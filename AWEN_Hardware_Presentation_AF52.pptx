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0956" y="379476"/>
            <a:ext cx="10728655" cy="960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20040"/>
            <a:ext cx="10728655" cy="96012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llege_header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65760"/>
            <a:ext cx="10545775" cy="868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0956" y="1476756"/>
            <a:ext cx="10728655" cy="21488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0728655" cy="2148840"/>
          </a:xfrm>
          <a:prstGeom prst="rect">
            <a:avLst/>
          </a:prstGeom>
          <a:solidFill>
            <a:srgbClr val="FEF3C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63624"/>
            <a:ext cx="10271455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11111"/>
                </a:solidFill>
                <a:latin typeface="Arial Black"/>
              </a:defRPr>
            </a:pPr>
            <a:r>
              <a:t>CAPSTONE PROJECT • DEPARTMENT OF COMPUTER SCIENCE &amp; ENGINEERING (DATA SCIENCE)</a:t>
            </a:r>
          </a:p>
          <a:p>
            <a:pPr>
              <a:spcBef>
                <a:spcPts val="400"/>
              </a:spcBef>
              <a:defRPr sz="3000" b="1">
                <a:solidFill>
                  <a:srgbClr val="111111"/>
                </a:solidFill>
                <a:latin typeface="Arial Black"/>
              </a:defRPr>
            </a:pPr>
            <a:r>
              <a:t>AWEN: Smart IoT Hardware &amp; Biometric Sensing</a:t>
            </a:r>
          </a:p>
          <a:p>
            <a:pPr>
              <a:spcBef>
                <a:spcPts val="500"/>
              </a:spcBef>
              <a:defRPr sz="1450" b="1">
                <a:solidFill>
                  <a:srgbClr val="111827"/>
                </a:solidFill>
                <a:latin typeface="Arial"/>
              </a:defRPr>
            </a:pPr>
            <a:r>
              <a:t>Multi-Sensor Edge Architecture: ESP32 + MAX30100 + MPU-6050 + LM35DZ + OLED + Buzzer</a:t>
            </a:r>
          </a:p>
        </p:txBody>
      </p:sp>
      <p:sp>
        <p:nvSpPr>
          <p:cNvPr id="9" name="Rectangle 8"/>
          <p:cNvSpPr/>
          <p:nvPr/>
        </p:nvSpPr>
        <p:spPr>
          <a:xfrm>
            <a:off x="790956" y="3790188"/>
            <a:ext cx="2542032" cy="19659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730752"/>
            <a:ext cx="2542032" cy="1965960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3858768"/>
            <a:ext cx="2249424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11111"/>
                </a:solidFill>
                <a:latin typeface="Arial Black"/>
              </a:defRPr>
            </a:pPr>
            <a:r>
              <a:t>ESP32 DUAL-CORE</a:t>
            </a:r>
          </a:p>
          <a:p>
            <a:pPr>
              <a:spcBef>
                <a:spcPts val="800"/>
              </a:spcBef>
              <a:defRPr sz="1150" b="1">
                <a:solidFill>
                  <a:srgbClr val="111827"/>
                </a:solidFill>
                <a:latin typeface="Arial"/>
              </a:defRPr>
            </a:pPr>
            <a:r>
              <a:t>Tensilica 240MHz master controller handling multi-sensor I2C telemetry &amp; digital filtering.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303520"/>
            <a:ext cx="2249424" cy="2926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7824" y="5266944"/>
            <a:ext cx="2249424" cy="292608"/>
          </a:xfrm>
          <a:prstGeom prst="rect">
            <a:avLst/>
          </a:prstGeom>
          <a:solidFill>
            <a:srgbClr val="FFFFFF"/>
          </a:solidFill>
          <a:ln w="228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950" b="1">
                <a:solidFill>
                  <a:srgbClr val="111111"/>
                </a:solidFill>
                <a:latin typeface="Arial Black"/>
              </a:defRPr>
            </a:pPr>
            <a:r>
              <a:t>240 MHZ • 520 KB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15868" y="3790188"/>
            <a:ext cx="2542032" cy="19659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3730752"/>
            <a:ext cx="2542032" cy="1965960"/>
          </a:xfrm>
          <a:prstGeom prst="rec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2736" y="3858768"/>
            <a:ext cx="2249424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11111"/>
                </a:solidFill>
                <a:latin typeface="Arial Black"/>
              </a:defRPr>
            </a:pPr>
            <a:r>
              <a:t>SENSORS SUITE</a:t>
            </a:r>
          </a:p>
          <a:p>
            <a:pPr>
              <a:spcBef>
                <a:spcPts val="800"/>
              </a:spcBef>
              <a:defRPr sz="1150" b="1">
                <a:solidFill>
                  <a:srgbClr val="111827"/>
                </a:solidFill>
                <a:latin typeface="Arial"/>
              </a:defRPr>
            </a:pPr>
            <a:r>
              <a:t>MAX30100 optical PPG/SpO2, MPU-6050 6-axis kinematics &amp; LM35DZ skin temperature.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39312" y="5303520"/>
            <a:ext cx="2249424" cy="2926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02736" y="5266944"/>
            <a:ext cx="2249424" cy="292608"/>
          </a:xfrm>
          <a:prstGeom prst="rect">
            <a:avLst/>
          </a:prstGeom>
          <a:solidFill>
            <a:srgbClr val="FFFFFF"/>
          </a:solidFill>
          <a:ln w="228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950" b="1">
                <a:solidFill>
                  <a:srgbClr val="111111"/>
                </a:solidFill>
                <a:latin typeface="Arial Black"/>
              </a:defRPr>
            </a:pPr>
            <a:r>
              <a:t>3 IN-LINE SENSORS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0780" y="3790188"/>
            <a:ext cx="2542032" cy="19659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1344" y="3730752"/>
            <a:ext cx="2542032" cy="1965960"/>
          </a:xfrm>
          <a:prstGeom prst="rect">
            <a:avLst/>
          </a:prstGeom>
          <a:solidFill>
            <a:srgbClr val="FFEDD5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3858768"/>
            <a:ext cx="2249424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11111"/>
                </a:solidFill>
                <a:latin typeface="Arial Black"/>
              </a:defRPr>
            </a:pPr>
            <a:r>
              <a:t>LOCAL INTERFACES</a:t>
            </a:r>
          </a:p>
          <a:p>
            <a:pPr>
              <a:spcBef>
                <a:spcPts val="800"/>
              </a:spcBef>
              <a:defRPr sz="1150" b="1">
                <a:solidFill>
                  <a:srgbClr val="111827"/>
                </a:solidFill>
                <a:latin typeface="Arial"/>
              </a:defRPr>
            </a:pPr>
            <a:r>
              <a:t>0.96" I2C OLED local display + Active Piezo buzzer for instant offline alarms.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64224" y="5303520"/>
            <a:ext cx="2249424" cy="2926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27648" y="5266944"/>
            <a:ext cx="2249424" cy="292608"/>
          </a:xfrm>
          <a:prstGeom prst="rect">
            <a:avLst/>
          </a:prstGeom>
          <a:solidFill>
            <a:srgbClr val="FFFFFF"/>
          </a:solidFill>
          <a:ln w="228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950" b="1">
                <a:solidFill>
                  <a:srgbClr val="111111"/>
                </a:solidFill>
                <a:latin typeface="Arial Black"/>
              </a:defRPr>
            </a:pPr>
            <a:r>
              <a:t>I2C 0X3C • GPIO 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5692" y="3790188"/>
            <a:ext cx="2542032" cy="19659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6256" y="3730752"/>
            <a:ext cx="2542032" cy="1965960"/>
          </a:xfrm>
          <a:prstGeom prst="rect">
            <a:avLst/>
          </a:prstGeom>
          <a:solidFill>
            <a:srgbClr val="F3E8FF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3858768"/>
            <a:ext cx="2249424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11111"/>
                </a:solidFill>
                <a:latin typeface="Arial Black"/>
              </a:defRPr>
            </a:pPr>
            <a:r>
              <a:t>PERSONAL NORMAL</a:t>
            </a:r>
          </a:p>
          <a:p>
            <a:pPr>
              <a:spcBef>
                <a:spcPts val="800"/>
              </a:spcBef>
              <a:defRPr sz="1150" b="1">
                <a:solidFill>
                  <a:srgbClr val="111827"/>
                </a:solidFill>
                <a:latin typeface="Arial"/>
              </a:defRPr>
            </a:pPr>
            <a:r>
              <a:t>On-device physiological baseline eliminates false stress triggers during walking.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89136" y="5303520"/>
            <a:ext cx="2249424" cy="2926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52560" y="5266944"/>
            <a:ext cx="2249424" cy="292608"/>
          </a:xfrm>
          <a:prstGeom prst="rect">
            <a:avLst/>
          </a:prstGeom>
          <a:solidFill>
            <a:srgbClr val="FFFFFF"/>
          </a:solidFill>
          <a:ln w="228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950" b="1">
                <a:solidFill>
                  <a:srgbClr val="111111"/>
                </a:solidFill>
                <a:latin typeface="Arial Black"/>
              </a:defRPr>
            </a:pPr>
            <a:r>
              <a:t>EDGE AI • PRIVATE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0956" y="5929884"/>
            <a:ext cx="10728655" cy="62179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5870448"/>
            <a:ext cx="10728655" cy="62179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907024"/>
            <a:ext cx="1036289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11111"/>
                </a:solidFill>
                <a:latin typeface="Arial Black"/>
              </a:defRPr>
            </a:pPr>
            <a:r>
              <a:t>PROJECT GROUP: AF52  |  DEPARTMENT OF CSE (DATA SCIENCE)  |  SJCEM, PALGHAR  |  ACADEMIC YEAR: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096" y="329184"/>
            <a:ext cx="2720340" cy="3200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92608"/>
            <a:ext cx="2720340" cy="320040"/>
          </a:xfrm>
          <a:prstGeom prst="rect">
            <a:avLst/>
          </a:prstGeom>
          <a:solidFill>
            <a:srgbClr val="FFD60A"/>
          </a:solidFill>
          <a:ln w="228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1100" b="1">
                <a:solidFill>
                  <a:srgbClr val="111111"/>
                </a:solidFill>
                <a:latin typeface="Arial Black"/>
              </a:defRPr>
            </a:pPr>
            <a:r>
              <a:t>HARDWARE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728655" cy="1051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11111"/>
                </a:solidFill>
                <a:latin typeface="Arial Black"/>
              </a:defRPr>
            </a:pPr>
            <a:r>
              <a:t>Key Engineering Objectives of AWEN Hardware</a:t>
            </a:r>
          </a:p>
          <a:p>
            <a:pPr>
              <a:spcBef>
                <a:spcPts val="300"/>
              </a:spcBef>
              <a:defRPr sz="1300" b="1">
                <a:solidFill>
                  <a:srgbClr val="111827"/>
                </a:solidFill>
                <a:latin typeface="Arial"/>
              </a:defRPr>
            </a:pPr>
            <a:r>
              <a:t>Designed to deliver non-invasive, continuous, edge-computed physiological telemetry.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0956" y="1979676"/>
            <a:ext cx="3383280" cy="4480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3383280" cy="4480560"/>
          </a:xfrm>
          <a:prstGeom prst="rec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980944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 Black"/>
              </a:defRPr>
            </a:pPr>
            <a:r>
              <a:t>1. Multi-Modal Synchronous Sensing</a:t>
            </a:r>
          </a:p>
          <a:p>
            <a:pPr>
              <a:spcBef>
                <a:spcPts val="800"/>
              </a:spcBef>
              <a:defRPr sz="1250" b="1">
                <a:solidFill>
                  <a:srgbClr val="111827"/>
                </a:solidFill>
                <a:latin typeface="Arial"/>
              </a:defRPr>
            </a:pPr>
            <a:r>
              <a:t>Implement reliable physical transduction of vital physiological signals on a wearable edge platform.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PPG &amp; SpO2 Capture: </a:t>
            </a:r>
            <a:r>
              <a:rPr b="0" sz="1200">
                <a:solidFill>
                  <a:srgbClr val="111827"/>
                </a:solidFill>
                <a:latin typeface="Arial"/>
              </a:rPr>
              <a:t>Continuous 100 Hz sampling of infrared and red optical absorbance.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Peripheral Skin Temperature: </a:t>
            </a:r>
            <a:r>
              <a:rPr b="0" sz="1200">
                <a:solidFill>
                  <a:srgbClr val="111827"/>
                </a:solidFill>
                <a:latin typeface="Arial"/>
              </a:rPr>
              <a:t>Precision ±0.5°C thermal monitoring via analog LM35DZ.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6-DOF Kinematic Tracking: </a:t>
            </a:r>
            <a:r>
              <a:rPr b="0" sz="1200">
                <a:solidFill>
                  <a:srgbClr val="111827"/>
                </a:solidFill>
                <a:latin typeface="Arial"/>
              </a:rPr>
              <a:t>3-axis acceleration and rotational rate via MPU-6050 at 50 Hz.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7700" y="1979676"/>
            <a:ext cx="3383280" cy="4480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98264" y="1920240"/>
            <a:ext cx="3383280" cy="4480560"/>
          </a:xfrm>
          <a:prstGeom prst="rect">
            <a:avLst/>
          </a:prstGeom>
          <a:solidFill>
            <a:srgbClr val="FEF3C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2121408"/>
            <a:ext cx="2980944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 Black"/>
              </a:defRPr>
            </a:pPr>
            <a:r>
              <a:t>2. Real-Time Motion Artifact Cancellation</a:t>
            </a:r>
          </a:p>
          <a:p>
            <a:pPr>
              <a:spcBef>
                <a:spcPts val="800"/>
              </a:spcBef>
              <a:defRPr sz="1250" b="1">
                <a:solidFill>
                  <a:srgbClr val="111827"/>
                </a:solidFill>
                <a:latin typeface="Arial"/>
              </a:defRPr>
            </a:pPr>
            <a:r>
              <a:t>Resolve the critical failure mode of existing commercial fitness bands: false stress alarms during exercise.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Kinematic Filtering: </a:t>
            </a:r>
            <a:r>
              <a:rPr b="0" sz="1200">
                <a:solidFill>
                  <a:srgbClr val="111827"/>
                </a:solidFill>
                <a:latin typeface="Arial"/>
              </a:rPr>
              <a:t>Cross-correlate heart rate spikes with inertial acceleration magnitudes.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Activity Awareness: </a:t>
            </a:r>
            <a:r>
              <a:rPr b="0" sz="1200">
                <a:solidFill>
                  <a:srgbClr val="111827"/>
                </a:solidFill>
                <a:latin typeface="Arial"/>
              </a:rPr>
              <a:t>Identify walking, running, and stair climbing in real-time on ESP32.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Zero False Panic: </a:t>
            </a:r>
            <a:r>
              <a:rPr b="0" sz="1200">
                <a:solidFill>
                  <a:srgbClr val="111827"/>
                </a:solidFill>
                <a:latin typeface="Arial"/>
              </a:rPr>
              <a:t>Suppress stress warnings when tachycardia is caused by physical exertion.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4444" y="1979676"/>
            <a:ext cx="3383280" cy="4480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65008" y="1920240"/>
            <a:ext cx="3383280" cy="4480560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6" y="2121408"/>
            <a:ext cx="2980944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 Black"/>
              </a:defRPr>
            </a:pPr>
            <a:r>
              <a:t>3. Autonomous Edge Feedback &amp; Privacy</a:t>
            </a:r>
          </a:p>
          <a:p>
            <a:pPr>
              <a:spcBef>
                <a:spcPts val="800"/>
              </a:spcBef>
              <a:defRPr sz="1250" b="1">
                <a:solidFill>
                  <a:srgbClr val="111827"/>
                </a:solidFill>
                <a:latin typeface="Arial"/>
              </a:defRPr>
            </a:pPr>
            <a:r>
              <a:t>Ensure total device autonomy and zero commercial cloud data harvesting.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Local OLED &amp; Buzzer: </a:t>
            </a:r>
            <a:r>
              <a:rPr b="0" sz="1200">
                <a:solidFill>
                  <a:srgbClr val="111827"/>
                </a:solidFill>
                <a:latin typeface="Arial"/>
              </a:rPr>
              <a:t>Direct visual and auditory feedback without needing a smartphone.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Edge State Computing: </a:t>
            </a:r>
            <a:r>
              <a:rPr b="0" sz="1200">
                <a:solidFill>
                  <a:srgbClr val="111827"/>
                </a:solidFill>
                <a:latin typeface="Arial"/>
              </a:rPr>
              <a:t>Personal moving baseline computed locally on ESP32 / local host.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100% Private Health Pod: </a:t>
            </a:r>
            <a:r>
              <a:rPr b="0" sz="1200">
                <a:solidFill>
                  <a:srgbClr val="111827"/>
                </a:solidFill>
                <a:latin typeface="Arial"/>
              </a:rPr>
              <a:t>Zero sensitive biometric streams uploaded to third-party ad networks.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096" y="329184"/>
            <a:ext cx="2148840" cy="3200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92608"/>
            <a:ext cx="2148840" cy="320040"/>
          </a:xfrm>
          <a:prstGeom prst="rect">
            <a:avLst/>
          </a:prstGeom>
          <a:solidFill>
            <a:srgbClr val="FFD60A"/>
          </a:solidFill>
          <a:ln w="228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1100" b="1">
                <a:solidFill>
                  <a:srgbClr val="111111"/>
                </a:solidFill>
                <a:latin typeface="Arial Black"/>
              </a:defRPr>
            </a:pPr>
            <a:r>
              <a:t>SYSTEM 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728655" cy="1051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11111"/>
                </a:solidFill>
                <a:latin typeface="Arial Black"/>
              </a:defRPr>
            </a:pPr>
            <a:r>
              <a:t>Hardware Architecture &amp; Working Principle</a:t>
            </a:r>
          </a:p>
          <a:p>
            <a:pPr>
              <a:spcBef>
                <a:spcPts val="300"/>
              </a:spcBef>
              <a:defRPr sz="1300" b="1">
                <a:solidFill>
                  <a:srgbClr val="111827"/>
                </a:solidFill>
                <a:latin typeface="Arial"/>
              </a:defRPr>
            </a:pPr>
            <a:r>
              <a:t>Synchronous multi-sensor acquisition, edge signal conditioning, and dual feedback loops.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0956" y="1933955"/>
            <a:ext cx="5486400" cy="1051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5486400" cy="1051560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65959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11111"/>
                </a:solidFill>
                <a:latin typeface="Arial Black"/>
              </a:defRPr>
            </a:pPr>
            <a:r>
              <a:t>STAGE 1: TRANSDUCTION</a:t>
            </a:r>
          </a:p>
          <a:p>
            <a:pPr>
              <a:spcBef>
                <a:spcPts val="300"/>
              </a:spcBef>
              <a:defRPr sz="1150" b="1">
                <a:solidFill>
                  <a:srgbClr val="111827"/>
                </a:solidFill>
                <a:latin typeface="Arial"/>
              </a:defRPr>
            </a:pPr>
            <a:r>
              <a:t>MAX30100 captures PPG optical pulses, MPU-6050 tracks 6-DOF motion, LM35DZ generates analog voltage proportional to body temp.</a:t>
            </a:r>
          </a:p>
        </p:txBody>
      </p:sp>
      <p:sp>
        <p:nvSpPr>
          <p:cNvPr id="9" name="Rectangle 8"/>
          <p:cNvSpPr/>
          <p:nvPr/>
        </p:nvSpPr>
        <p:spPr>
          <a:xfrm>
            <a:off x="790956" y="3076956"/>
            <a:ext cx="5486400" cy="1051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017520"/>
            <a:ext cx="5486400" cy="1051560"/>
          </a:xfrm>
          <a:prstGeom prst="rec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10896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11111"/>
                </a:solidFill>
                <a:latin typeface="Arial Black"/>
              </a:defRPr>
            </a:pPr>
            <a:r>
              <a:t>STAGE 2: I2C BUS MULTIPLEXING</a:t>
            </a:r>
          </a:p>
          <a:p>
            <a:pPr>
              <a:spcBef>
                <a:spcPts val="300"/>
              </a:spcBef>
              <a:defRPr sz="1150" b="1">
                <a:solidFill>
                  <a:srgbClr val="111827"/>
                </a:solidFill>
                <a:latin typeface="Arial"/>
              </a:defRPr>
            </a:pPr>
            <a:r>
              <a:t>ESP32 acts as I2C Master (SDA GPIO 21, SCL GPIO 22) polling digital sensors at 100 Hz and reading ADC1_CH6 (GPIO 34) at 1 Hz.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" y="4219956"/>
            <a:ext cx="5486400" cy="1051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160520"/>
            <a:ext cx="5486400" cy="1051560"/>
          </a:xfrm>
          <a:prstGeom prst="rect">
            <a:avLst/>
          </a:prstGeom>
          <a:solidFill>
            <a:srgbClr val="FEF3C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25196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11111"/>
                </a:solidFill>
                <a:latin typeface="Arial Black"/>
              </a:defRPr>
            </a:pPr>
            <a:r>
              <a:t>STAGE 3: EDGE PREPROCESSING</a:t>
            </a:r>
          </a:p>
          <a:p>
            <a:pPr>
              <a:spcBef>
                <a:spcPts val="300"/>
              </a:spcBef>
              <a:defRPr sz="1150" b="1">
                <a:solidFill>
                  <a:srgbClr val="111827"/>
                </a:solidFill>
                <a:latin typeface="Arial"/>
              </a:defRPr>
            </a:pPr>
            <a:r>
              <a:t>DC drift filter isolates pulse waves, dynamic peak detection computes BPM/SpO2, and MPU motion threshold gates stress alerts.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0956" y="5362956"/>
            <a:ext cx="5486400" cy="1051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303520"/>
            <a:ext cx="5486400" cy="1051560"/>
          </a:xfrm>
          <a:prstGeom prst="rect">
            <a:avLst/>
          </a:prstGeom>
          <a:solidFill>
            <a:srgbClr val="FEE2E2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39496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11111"/>
                </a:solidFill>
                <a:latin typeface="Arial Black"/>
              </a:defRPr>
            </a:pPr>
            <a:r>
              <a:t>STAGE 4: LOCAL DISPLAY &amp; ALERTS</a:t>
            </a:r>
          </a:p>
          <a:p>
            <a:pPr>
              <a:spcBef>
                <a:spcPts val="300"/>
              </a:spcBef>
              <a:defRPr sz="1150" b="1">
                <a:solidFill>
                  <a:srgbClr val="111827"/>
                </a:solidFill>
                <a:latin typeface="Arial"/>
              </a:defRPr>
            </a:pPr>
            <a:r>
              <a:t>Real-time vitals rendered on 0.96" OLED; buzzer pulses on acute threshold anomalies; serial JSON streamed to dashboard.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1676" y="1933955"/>
            <a:ext cx="4967935" cy="4480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0" y="1874519"/>
            <a:ext cx="4967935" cy="4480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rototyp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011680"/>
            <a:ext cx="4693615" cy="33832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629400" y="5486400"/>
            <a:ext cx="46936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1111"/>
                </a:solidFill>
                <a:latin typeface="Arial Black"/>
              </a:defRPr>
            </a:pPr>
            <a:r>
              <a:t>PROTOTYPE: Assembled AWEN Breadboard Circuit</a:t>
            </a:r>
          </a:p>
          <a:p>
            <a:pPr>
              <a:defRPr sz="1050">
                <a:solidFill>
                  <a:srgbClr val="4B5563"/>
                </a:solidFill>
              </a:defRPr>
            </a:pPr>
            <a:r>
              <a:t>ESP32 WROOM-32, active OLED displaying PPG waveform, finger on optical sensor, MPU-6050 &amp; LM35DZ.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096" y="329184"/>
            <a:ext cx="2834640" cy="3200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92608"/>
            <a:ext cx="2834640" cy="320040"/>
          </a:xfrm>
          <a:prstGeom prst="rect">
            <a:avLst/>
          </a:prstGeom>
          <a:solidFill>
            <a:srgbClr val="FFD60A"/>
          </a:solidFill>
          <a:ln w="228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1100" b="1">
                <a:solidFill>
                  <a:srgbClr val="111111"/>
                </a:solidFill>
                <a:latin typeface="Arial Black"/>
              </a:defRPr>
            </a:pPr>
            <a:r>
              <a:t>MICROCONTROLLER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728655" cy="1051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11111"/>
                </a:solidFill>
                <a:latin typeface="Arial Black"/>
              </a:defRPr>
            </a:pPr>
            <a:r>
              <a:t>ESP-32 Dev Module (WROOM-32): The Brain of AWEN</a:t>
            </a:r>
          </a:p>
          <a:p>
            <a:pPr>
              <a:spcBef>
                <a:spcPts val="300"/>
              </a:spcBef>
              <a:defRPr sz="1300" b="1">
                <a:solidFill>
                  <a:srgbClr val="111827"/>
                </a:solidFill>
                <a:latin typeface="Arial"/>
              </a:defRPr>
            </a:pPr>
            <a:r>
              <a:t>High-performance dual-core SoC driving simultaneous sensor polling and digital signal processing.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0956" y="1979676"/>
            <a:ext cx="4023360" cy="4480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4023360" cy="4480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sp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57400"/>
            <a:ext cx="3749040" cy="31546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05256" y="5358384"/>
            <a:ext cx="3749040" cy="32918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5321808"/>
            <a:ext cx="3749040" cy="329184"/>
          </a:xfrm>
          <a:prstGeom prst="rect">
            <a:avLst/>
          </a:prstGeom>
          <a:solidFill>
            <a:srgbClr val="FFD60A"/>
          </a:solidFill>
          <a:ln w="228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1100" b="1">
                <a:solidFill>
                  <a:srgbClr val="111111"/>
                </a:solidFill>
                <a:latin typeface="Arial Black"/>
              </a:defRPr>
            </a:pPr>
            <a:r>
              <a:t>ESP-WROOM-32 (30-PIN)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715000"/>
            <a:ext cx="3749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Hardware I2C Master @ 400kHz | 12-Bit SAR ADC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8636" y="1979676"/>
            <a:ext cx="6430975" cy="138988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0" y="1920240"/>
            <a:ext cx="6430975" cy="1389888"/>
          </a:xfrm>
          <a:prstGeom prst="rect">
            <a:avLst/>
          </a:prstGeom>
          <a:solidFill>
            <a:srgbClr val="FEF3C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2029968"/>
            <a:ext cx="60652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t>Dual-Core Tensilica Xtensa 32-bit LX6 @ 240 MHz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Asymmetric Task Concurrency: </a:t>
            </a:r>
            <a:r>
              <a:rPr b="0" sz="1200">
                <a:solidFill>
                  <a:srgbClr val="111827"/>
                </a:solidFill>
                <a:latin typeface="Arial"/>
              </a:rPr>
              <a:t>Core 0 handles continuous 100 Hz high-speed I2C sensor sampling; Core 1 executes baseline algorithms and serial streaming.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Memory Resources: </a:t>
            </a:r>
            <a:r>
              <a:rPr b="0" sz="1200">
                <a:solidFill>
                  <a:srgbClr val="111827"/>
                </a:solidFill>
                <a:latin typeface="Arial"/>
              </a:rPr>
              <a:t>520 KB on-chip SRAM guarantees zero buffer underrun during peak telemetry bursts.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8636" y="3497580"/>
            <a:ext cx="6430975" cy="138988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0" y="3438144"/>
            <a:ext cx="6430975" cy="1389888"/>
          </a:xfrm>
          <a:prstGeom prst="rec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3547872"/>
            <a:ext cx="60652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t>Hardware Peripheral Interfaces &amp; Low-Noise ADC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Shared Hardware I2C Bus: </a:t>
            </a:r>
            <a:r>
              <a:rPr b="0" sz="1200">
                <a:solidFill>
                  <a:srgbClr val="111827"/>
                </a:solidFill>
                <a:latin typeface="Arial"/>
              </a:rPr>
              <a:t>Pin GPIO 21 (SDA) &amp; GPIO 22 (SCL) concurrently drive MAX30100, MPU-6050, and OLED.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Precision 12-Bit ADC Channel: </a:t>
            </a:r>
            <a:r>
              <a:rPr b="0" sz="1200">
                <a:solidFill>
                  <a:srgbClr val="111827"/>
                </a:solidFill>
                <a:latin typeface="Arial"/>
              </a:rPr>
              <a:t>Pin GPIO 34 (ADC1_CH6) reads continuous analog skin temperature voltage from LM35DZ.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8636" y="5015484"/>
            <a:ext cx="6430975" cy="138988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0" y="4956048"/>
            <a:ext cx="6430975" cy="1389888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5065776"/>
            <a:ext cx="60652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t>Dual-Mode Telemetry &amp; Edge Autonomy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USB Serial &amp; Wireless Ready: </a:t>
            </a:r>
            <a:r>
              <a:rPr b="0" sz="1200">
                <a:solidFill>
                  <a:srgbClr val="111827"/>
                </a:solidFill>
                <a:latin typeface="Arial"/>
              </a:rPr>
              <a:t>Transmits robust JSON telemetry at 115200 baud; integrated BLE/Wi-Fi ready for mobile syncing.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Ultra-Low Latency Alerting: </a:t>
            </a:r>
            <a:r>
              <a:rPr b="0" sz="1200">
                <a:solidFill>
                  <a:srgbClr val="111827"/>
                </a:solidFill>
                <a:latin typeface="Arial"/>
              </a:rPr>
              <a:t>Direct hardware GPIO 25 trigger delivers instantaneous alert buzzing within &lt; 2 milliseconds.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096" y="329184"/>
            <a:ext cx="2606040" cy="3200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92608"/>
            <a:ext cx="2606040" cy="320040"/>
          </a:xfrm>
          <a:prstGeom prst="rect">
            <a:avLst/>
          </a:prstGeom>
          <a:solidFill>
            <a:srgbClr val="FFD60A"/>
          </a:solidFill>
          <a:ln w="228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1100" b="1">
                <a:solidFill>
                  <a:srgbClr val="111111"/>
                </a:solidFill>
                <a:latin typeface="Arial Black"/>
              </a:defRPr>
            </a:pPr>
            <a:r>
              <a:t>PPG OPTICAL SENSOR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728655" cy="1051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11111"/>
                </a:solidFill>
                <a:latin typeface="Arial Black"/>
              </a:defRPr>
            </a:pPr>
            <a:r>
              <a:t>MAX30100: Pulse Oximetry &amp; Heart Rate (PPG)</a:t>
            </a:r>
          </a:p>
          <a:p>
            <a:pPr>
              <a:spcBef>
                <a:spcPts val="300"/>
              </a:spcBef>
              <a:defRPr sz="1300" b="1">
                <a:solidFill>
                  <a:srgbClr val="111827"/>
                </a:solidFill>
                <a:latin typeface="Arial"/>
              </a:defRPr>
            </a:pPr>
            <a:r>
              <a:t>Photoplethysmographic sensor combining dual LEDs, photodetector, and optical processing.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0956" y="1979676"/>
            <a:ext cx="4023360" cy="4480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4023360" cy="4480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ax301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57400"/>
            <a:ext cx="3749040" cy="31546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05256" y="5358384"/>
            <a:ext cx="3749040" cy="32918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5321808"/>
            <a:ext cx="3749040" cy="329184"/>
          </a:xfrm>
          <a:prstGeom prst="rect">
            <a:avLst/>
          </a:prstGeom>
          <a:solidFill>
            <a:srgbClr val="A855F7"/>
          </a:solidFill>
          <a:ln w="228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1100" b="1">
                <a:solidFill>
                  <a:srgbClr val="111111"/>
                </a:solidFill>
                <a:latin typeface="Arial Black"/>
              </a:defRPr>
            </a:pPr>
            <a:r>
              <a:t>MAX30100 PPG (ADDR: 0X57)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715000"/>
            <a:ext cx="3749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Dual Wavelength: 660nm (Red) &amp; 880nm (IR)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8636" y="1979676"/>
            <a:ext cx="6430975" cy="138988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0" y="1920240"/>
            <a:ext cx="6430975" cy="1389888"/>
          </a:xfrm>
          <a:prstGeom prst="rect">
            <a:avLst/>
          </a:prstGeom>
          <a:solidFill>
            <a:srgbClr val="F3E8FF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2029968"/>
            <a:ext cx="60652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t>Dual Optical Wavelengths &amp; Hemoglobin Absorption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Red LED (660 nm): </a:t>
            </a:r>
            <a:r>
              <a:rPr b="0" sz="1200">
                <a:solidFill>
                  <a:srgbClr val="111827"/>
                </a:solidFill>
                <a:latin typeface="Arial"/>
              </a:rPr>
              <a:t>Highly absorbed by deoxygenated hemoglobin (Hb); sensitive to oxygenation changes.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Infrared LED (880 nm): </a:t>
            </a:r>
            <a:r>
              <a:rPr b="0" sz="1200">
                <a:solidFill>
                  <a:srgbClr val="111827"/>
                </a:solidFill>
                <a:latin typeface="Arial"/>
              </a:rPr>
              <a:t>Highly absorbed by oxygenated hemoglobin (HbO2); provides reference transmission.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8636" y="3497580"/>
            <a:ext cx="6430975" cy="138988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0" y="3438144"/>
            <a:ext cx="6430975" cy="1389888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3547872"/>
            <a:ext cx="60652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t>Photoplethysmography (PPG) Working Principle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Micro-Vascular Volumetric Pulsing: </a:t>
            </a:r>
            <a:r>
              <a:rPr b="0" sz="1200">
                <a:solidFill>
                  <a:srgbClr val="111827"/>
                </a:solidFill>
                <a:latin typeface="Arial"/>
              </a:rPr>
              <a:t>Each cardiac ventricular contraction pumps blood into peripheral capillaries, modulating reflected light.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R-to-R Peak Calculation: </a:t>
            </a:r>
            <a:r>
              <a:rPr b="0" sz="1200">
                <a:solidFill>
                  <a:srgbClr val="111827"/>
                </a:solidFill>
                <a:latin typeface="Arial"/>
              </a:rPr>
              <a:t>ESP32 edge algorithm tracks systolic peaks to derive instantaneous Heart Rate (BPM) in real time.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8636" y="5015484"/>
            <a:ext cx="6430975" cy="138988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0" y="4956048"/>
            <a:ext cx="6430975" cy="1389888"/>
          </a:xfrm>
          <a:prstGeom prst="rect">
            <a:avLst/>
          </a:prstGeom>
          <a:solidFill>
            <a:srgbClr val="FEF3C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5065776"/>
            <a:ext cx="60652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t>Integrated Signal Conditioning &amp; Noise Rejection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Ambient Light Cancellation: </a:t>
            </a:r>
            <a:r>
              <a:rPr b="0" sz="1200">
                <a:solidFill>
                  <a:srgbClr val="111827"/>
                </a:solidFill>
                <a:latin typeface="Arial"/>
              </a:rPr>
              <a:t>On-chip analog front-end cancels 50/60 Hz artificial room lighting flicker.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High-Resolution 16-Bit ADC: </a:t>
            </a:r>
            <a:r>
              <a:rPr b="0" sz="1200">
                <a:solidFill>
                  <a:srgbClr val="111827"/>
                </a:solidFill>
                <a:latin typeface="Arial"/>
              </a:rPr>
              <a:t>Over-samples raw photodiode current with programmable sample rates (50 Hz to 1 kHz).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096" y="329184"/>
            <a:ext cx="2720340" cy="3200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92608"/>
            <a:ext cx="2720340" cy="320040"/>
          </a:xfrm>
          <a:prstGeom prst="rect">
            <a:avLst/>
          </a:prstGeom>
          <a:solidFill>
            <a:srgbClr val="FFD60A"/>
          </a:solidFill>
          <a:ln w="228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1100" b="1">
                <a:solidFill>
                  <a:srgbClr val="111111"/>
                </a:solidFill>
                <a:latin typeface="Arial Black"/>
              </a:defRPr>
            </a:pPr>
            <a:r>
              <a:t>INERTIAL KINEMATICS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728655" cy="1051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11111"/>
                </a:solidFill>
                <a:latin typeface="Arial Black"/>
              </a:defRPr>
            </a:pPr>
            <a:r>
              <a:t>MPU-6050: Motion Tracking &amp; False-Alarm Prevention</a:t>
            </a:r>
          </a:p>
          <a:p>
            <a:pPr>
              <a:spcBef>
                <a:spcPts val="300"/>
              </a:spcBef>
              <a:defRPr sz="1300" b="1">
                <a:solidFill>
                  <a:srgbClr val="111827"/>
                </a:solidFill>
                <a:latin typeface="Arial"/>
              </a:defRPr>
            </a:pPr>
            <a:r>
              <a:t>6-DOF IMU combining 3-axis accelerometer and 3-axis gyroscope on a single silicon die.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0956" y="1979676"/>
            <a:ext cx="4023360" cy="4480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4023360" cy="4480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pu60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57400"/>
            <a:ext cx="3749040" cy="31546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05256" y="5358384"/>
            <a:ext cx="3749040" cy="32918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5321808"/>
            <a:ext cx="3749040" cy="329184"/>
          </a:xfrm>
          <a:prstGeom prst="rect">
            <a:avLst/>
          </a:prstGeom>
          <a:solidFill>
            <a:srgbClr val="0EA5E9"/>
          </a:solidFill>
          <a:ln w="228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1100" b="1">
                <a:solidFill>
                  <a:srgbClr val="111111"/>
                </a:solidFill>
                <a:latin typeface="Arial Black"/>
              </a:defRPr>
            </a:pPr>
            <a:r>
              <a:t>MPU-6050 IMU (ADDR: 0X68)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715000"/>
            <a:ext cx="3749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±2g Accelerometer &amp; ±250°/s Gyroscope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8636" y="1979676"/>
            <a:ext cx="6430975" cy="138988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0" y="1920240"/>
            <a:ext cx="6430975" cy="1389888"/>
          </a:xfrm>
          <a:prstGeom prst="rec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2029968"/>
            <a:ext cx="60652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t>6 Degrees of Freedom (6-DOF) Architecture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3-Axis MEMS Accelerometer: </a:t>
            </a:r>
            <a:r>
              <a:rPr b="0" sz="1200">
                <a:solidFill>
                  <a:srgbClr val="111827"/>
                </a:solidFill>
                <a:latin typeface="Arial"/>
              </a:rPr>
              <a:t>Measures static gravity vector and dynamic acceleration (X, Y, Z axes) with 16-bit resolution.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3-Axis Angular Gyroscope: </a:t>
            </a:r>
            <a:r>
              <a:rPr b="0" sz="1200">
                <a:solidFill>
                  <a:srgbClr val="111827"/>
                </a:solidFill>
                <a:latin typeface="Arial"/>
              </a:rPr>
              <a:t>Tracks rotational velocity to capture arm swings and gestures during physical activities.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8636" y="3497580"/>
            <a:ext cx="6430975" cy="138988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0" y="3438144"/>
            <a:ext cx="6430975" cy="1389888"/>
          </a:xfrm>
          <a:prstGeom prst="rect">
            <a:avLst/>
          </a:prstGeom>
          <a:solidFill>
            <a:srgbClr val="FEF3C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3547872"/>
            <a:ext cx="60652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t>The Kinematic Context Engine (Solving Watch Flaws)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The Problem with Generic Watches: </a:t>
            </a:r>
            <a:r>
              <a:rPr b="0" sz="1200">
                <a:solidFill>
                  <a:srgbClr val="111827"/>
                </a:solidFill>
                <a:latin typeface="Arial"/>
              </a:rPr>
              <a:t>When climbing stairs or walking, HR increases naturally, triggering false 'High Stress' alarms.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AWEN's Dynamic Contextualization: </a:t>
            </a:r>
            <a:r>
              <a:rPr b="0" sz="1200">
                <a:solidFill>
                  <a:srgbClr val="111827"/>
                </a:solidFill>
                <a:latin typeface="Arial"/>
              </a:rPr>
              <a:t>If acceleration magnitude |A| &gt; 1.25g, AWEN tags heart rate rise as ACTIVE EXERCISE, not mental stress.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8636" y="5015484"/>
            <a:ext cx="6430975" cy="138988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0" y="4956048"/>
            <a:ext cx="6430975" cy="1389888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5065776"/>
            <a:ext cx="60652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t>Digital Motion Processor (DMP) &amp; I2C Bus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Fast I2C Communication: </a:t>
            </a:r>
            <a:r>
              <a:rPr b="0" sz="1200">
                <a:solidFill>
                  <a:srgbClr val="111827"/>
                </a:solidFill>
                <a:latin typeface="Arial"/>
              </a:rPr>
              <a:t>Operates seamlessly on the shared 400 kHz bus at device address 0x68.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Interrupt-Driven Thresholding: </a:t>
            </a:r>
            <a:r>
              <a:rPr b="0" sz="1200">
                <a:solidFill>
                  <a:srgbClr val="111827"/>
                </a:solidFill>
                <a:latin typeface="Arial"/>
              </a:rPr>
              <a:t>Wakes ESP32 algorithms only when significant motion changes occur, optimizing battery draw.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096" y="329184"/>
            <a:ext cx="2606040" cy="3200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92608"/>
            <a:ext cx="2606040" cy="320040"/>
          </a:xfrm>
          <a:prstGeom prst="rect">
            <a:avLst/>
          </a:prstGeom>
          <a:solidFill>
            <a:srgbClr val="FFD60A"/>
          </a:solidFill>
          <a:ln w="228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1100" b="1">
                <a:solidFill>
                  <a:srgbClr val="111111"/>
                </a:solidFill>
                <a:latin typeface="Arial Black"/>
              </a:defRPr>
            </a:pPr>
            <a:r>
              <a:t>ANALOG THERMOMETRY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728655" cy="1051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11111"/>
                </a:solidFill>
                <a:latin typeface="Arial Black"/>
              </a:defRPr>
            </a:pPr>
            <a:r>
              <a:t>LM35DZ: Precision Peripheral Skin Temperature</a:t>
            </a:r>
          </a:p>
          <a:p>
            <a:pPr>
              <a:spcBef>
                <a:spcPts val="300"/>
              </a:spcBef>
              <a:defRPr sz="1300" b="1">
                <a:solidFill>
                  <a:srgbClr val="111827"/>
                </a:solidFill>
                <a:latin typeface="Arial"/>
              </a:defRPr>
            </a:pPr>
            <a:r>
              <a:t>Linear Celsius temperature sensor calibrated directly in degrees Celsius.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0956" y="1979676"/>
            <a:ext cx="4023360" cy="4480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4023360" cy="4480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m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57400"/>
            <a:ext cx="3749040" cy="31546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05256" y="5358384"/>
            <a:ext cx="3749040" cy="32918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5321808"/>
            <a:ext cx="3749040" cy="329184"/>
          </a:xfrm>
          <a:prstGeom prst="rect">
            <a:avLst/>
          </a:prstGeom>
          <a:solidFill>
            <a:srgbClr val="FFD60A"/>
          </a:solidFill>
          <a:ln w="228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1100" b="1">
                <a:solidFill>
                  <a:srgbClr val="111111"/>
                </a:solidFill>
                <a:latin typeface="Arial Black"/>
              </a:defRPr>
            </a:pPr>
            <a:r>
              <a:t>LM35DZ TEMP SENSOR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715000"/>
            <a:ext cx="3749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Linear +10 mV/°C | TO-92 3-Pin Analog 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8636" y="1979676"/>
            <a:ext cx="6430975" cy="138988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0" y="1920240"/>
            <a:ext cx="6430975" cy="1389888"/>
          </a:xfrm>
          <a:prstGeom prst="rect">
            <a:avLst/>
          </a:prstGeom>
          <a:solidFill>
            <a:srgbClr val="FFEDD5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2029968"/>
            <a:ext cx="60652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t>Direct Linear Calibration (+10 mV per °C)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True Celsius Linear Output: </a:t>
            </a:r>
            <a:r>
              <a:rPr b="0" sz="1200">
                <a:solidFill>
                  <a:srgbClr val="111827"/>
                </a:solidFill>
                <a:latin typeface="Arial"/>
              </a:rPr>
              <a:t>Output voltage is directly proportional to temperature (e.g., 360 mV = 36.0°C; 375 mV = 37.5°C).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Zero Look-Up Tables: </a:t>
            </a:r>
            <a:r>
              <a:rPr b="0" sz="1200">
                <a:solidFill>
                  <a:srgbClr val="111827"/>
                </a:solidFill>
                <a:latin typeface="Arial"/>
              </a:rPr>
              <a:t>Unlike thermistors (NTC) which require complex Steinhart-Hart polynomial curves, LM35 provides exact linear math.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8636" y="3497580"/>
            <a:ext cx="6430975" cy="138988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0" y="3438144"/>
            <a:ext cx="6430975" cy="1389888"/>
          </a:xfrm>
          <a:prstGeom prst="rect">
            <a:avLst/>
          </a:prstGeom>
          <a:solidFill>
            <a:srgbClr val="FEE2E2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3547872"/>
            <a:ext cx="60652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t>Why Peripheral Skin Temperature Matters for Stress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Sympathetic Vasoconstriction: </a:t>
            </a:r>
            <a:r>
              <a:rPr b="0" sz="1200">
                <a:solidFill>
                  <a:srgbClr val="111827"/>
                </a:solidFill>
                <a:latin typeface="Arial"/>
              </a:rPr>
              <a:t>During acute sympathetic nervous arousal (stress/panic), peripheral capillaries constrict.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Finger Temperature Dip: </a:t>
            </a:r>
            <a:r>
              <a:rPr b="0" sz="1200">
                <a:solidFill>
                  <a:srgbClr val="111827"/>
                </a:solidFill>
                <a:latin typeface="Arial"/>
              </a:rPr>
              <a:t>A sudden drop in skin temperature accompanied by resting tachycardia is a classic physiological marker of stress.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8636" y="5015484"/>
            <a:ext cx="6430975" cy="138988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0" y="4956048"/>
            <a:ext cx="6430975" cy="1389888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5065776"/>
            <a:ext cx="60652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t>Precision Interfacing with ESP32 ADC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ADC Channel 34 Connection: </a:t>
            </a:r>
            <a:r>
              <a:rPr b="0" sz="1200">
                <a:solidFill>
                  <a:srgbClr val="111827"/>
                </a:solidFill>
                <a:latin typeface="Arial"/>
              </a:rPr>
              <a:t>VOUT pin is wired directly to ESP32 ADC1_CH6 (GPIO 34), bypassing Wi-Fi ADC2 conflicts.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Oversampling &amp; Moving Average: </a:t>
            </a:r>
            <a:r>
              <a:rPr b="0" sz="1200">
                <a:solidFill>
                  <a:srgbClr val="111827"/>
                </a:solidFill>
                <a:latin typeface="Arial"/>
              </a:rPr>
              <a:t>Firmware takes 32 successive analog samples every second to cancel environmental noise and thermal flutter.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096" y="329184"/>
            <a:ext cx="2377440" cy="3200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92608"/>
            <a:ext cx="2377440" cy="320040"/>
          </a:xfrm>
          <a:prstGeom prst="rect">
            <a:avLst/>
          </a:prstGeom>
          <a:solidFill>
            <a:srgbClr val="FFD60A"/>
          </a:solidFill>
          <a:ln w="228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1100" b="1">
                <a:solidFill>
                  <a:srgbClr val="111111"/>
                </a:solidFill>
                <a:latin typeface="Arial Black"/>
              </a:defRPr>
            </a:pPr>
            <a:r>
              <a:t>OUTPUT ACTUATORS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728655" cy="1051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11111"/>
                </a:solidFill>
                <a:latin typeface="Arial Black"/>
              </a:defRPr>
            </a:pPr>
            <a:r>
              <a:t>Local Interaction: SSD1306 OLED &amp; Active Piezo Buzzer</a:t>
            </a:r>
          </a:p>
          <a:p>
            <a:pPr>
              <a:spcBef>
                <a:spcPts val="300"/>
              </a:spcBef>
              <a:defRPr sz="1300" b="1">
                <a:solidFill>
                  <a:srgbClr val="111827"/>
                </a:solidFill>
                <a:latin typeface="Arial"/>
              </a:defRPr>
            </a:pPr>
            <a:r>
              <a:t>Immediate tactile, auditory, and visual feedback without requiring an active smartphone 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0956" y="1979676"/>
            <a:ext cx="5212080" cy="4480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5212080" cy="4480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ol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57400"/>
            <a:ext cx="4937760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05256" y="4407408"/>
            <a:ext cx="4937760" cy="31089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4370832"/>
            <a:ext cx="4937760" cy="310896"/>
          </a:xfrm>
          <a:prstGeom prst="rect">
            <a:avLst/>
          </a:prstGeom>
          <a:solidFill>
            <a:srgbClr val="0EA5E9"/>
          </a:solidFill>
          <a:ln w="228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1050" b="1">
                <a:solidFill>
                  <a:srgbClr val="111111"/>
                </a:solidFill>
                <a:latin typeface="Arial Black"/>
              </a:defRPr>
            </a:pPr>
            <a:r>
              <a:t>SSD1306 0.96" OLED (0X3C)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736592"/>
            <a:ext cx="4937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Resolution: </a:t>
            </a:r>
            <a:r>
              <a:rPr b="0" sz="1200">
                <a:solidFill>
                  <a:srgbClr val="111827"/>
                </a:solidFill>
                <a:latin typeface="Arial"/>
              </a:rPr>
              <a:t>128 x 64 pixels with high-contrast organic LED self-illumination.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Real-Time Telemetry: </a:t>
            </a:r>
            <a:r>
              <a:rPr b="0" sz="1200">
                <a:solidFill>
                  <a:srgbClr val="111827"/>
                </a:solidFill>
                <a:latin typeface="Arial"/>
              </a:rPr>
              <a:t>Live readout of BPM, SpO2 (%), Body Temp (°C), and dynamic AWEN mascot expression.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Zero Power in Black: </a:t>
            </a:r>
            <a:r>
              <a:rPr b="0" sz="1200">
                <a:solidFill>
                  <a:srgbClr val="111827"/>
                </a:solidFill>
                <a:latin typeface="Arial"/>
              </a:rPr>
              <a:t>OLED pixels turn completely off for true blacks, conserving precious battery power.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7531" y="1979676"/>
            <a:ext cx="5212080" cy="4480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8095" y="1920240"/>
            <a:ext cx="5212080" cy="4480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uzz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255" y="2057400"/>
            <a:ext cx="4937760" cy="21945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421831" y="4407408"/>
            <a:ext cx="4937760" cy="31089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85255" y="4370832"/>
            <a:ext cx="4937760" cy="310896"/>
          </a:xfrm>
          <a:prstGeom prst="rect">
            <a:avLst/>
          </a:prstGeom>
          <a:solidFill>
            <a:srgbClr val="F43F5E"/>
          </a:solidFill>
          <a:ln w="228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1050" b="1">
                <a:solidFill>
                  <a:srgbClr val="111111"/>
                </a:solidFill>
                <a:latin typeface="Arial Black"/>
              </a:defRPr>
            </a:pPr>
            <a:r>
              <a:t>ACTIVE PIEZO BUZZER (GPIO 25)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5255" y="4736592"/>
            <a:ext cx="4937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Internal Oscillator: </a:t>
            </a:r>
            <a:r>
              <a:rPr b="0" sz="1200">
                <a:solidFill>
                  <a:srgbClr val="111827"/>
                </a:solidFill>
                <a:latin typeface="Arial"/>
              </a:rPr>
              <a:t>Built-in 2.3 kHz oscillating circuit triggers instant tone upon HIGH digital signal.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Direct GPIO Drive: </a:t>
            </a:r>
            <a:r>
              <a:rPr b="0" sz="1200">
                <a:solidFill>
                  <a:srgbClr val="111827"/>
                </a:solidFill>
                <a:latin typeface="Arial"/>
              </a:rPr>
              <a:t>Controlled via ESP32 GPIO 25 without external driver transistor (low current draw &lt; 20mA).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Smart Sound Patterns: </a:t>
            </a:r>
            <a:r>
              <a:rPr b="0" sz="1200">
                <a:solidFill>
                  <a:srgbClr val="111827"/>
                </a:solidFill>
                <a:latin typeface="Arial"/>
              </a:rPr>
              <a:t>Gentle single chime for state change; rhythmic triple pulse for critical hypoxia (SpO2 &lt; 90%).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096" y="329184"/>
            <a:ext cx="2263140" cy="3200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92608"/>
            <a:ext cx="2263140" cy="320040"/>
          </a:xfrm>
          <a:prstGeom prst="rect">
            <a:avLst/>
          </a:prstGeom>
          <a:solidFill>
            <a:srgbClr val="FFD60A"/>
          </a:solidFill>
          <a:ln w="228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1100" b="1">
                <a:solidFill>
                  <a:srgbClr val="111111"/>
                </a:solidFill>
                <a:latin typeface="Arial Black"/>
              </a:defRPr>
            </a:pPr>
            <a:r>
              <a:t>PINOUT &amp; WIRING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728655" cy="1051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11111"/>
                </a:solidFill>
                <a:latin typeface="Arial Black"/>
              </a:defRPr>
            </a:pPr>
            <a:r>
              <a:t>Hardware Interconnect &amp; GPIO Pin Mapping</a:t>
            </a:r>
          </a:p>
          <a:p>
            <a:pPr>
              <a:spcBef>
                <a:spcPts val="300"/>
              </a:spcBef>
              <a:defRPr sz="1300" b="1">
                <a:solidFill>
                  <a:srgbClr val="111827"/>
                </a:solidFill>
                <a:latin typeface="Arial"/>
              </a:defRPr>
            </a:pPr>
            <a:r>
              <a:t>Complete schematic interconnecting all 5 modules to ESP32 with zero pin conflicts.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0956" y="1979676"/>
            <a:ext cx="5212080" cy="4480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5212080" cy="4480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8_circuit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57400"/>
            <a:ext cx="4937760" cy="41148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77356" y="1979676"/>
            <a:ext cx="5242255" cy="8229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5242255" cy="822960"/>
          </a:xfrm>
          <a:prstGeom prst="rect">
            <a:avLst/>
          </a:prstGeom>
          <a:solidFill>
            <a:srgbClr val="F3E8FF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993392"/>
            <a:ext cx="4913071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1111"/>
                </a:solidFill>
                <a:latin typeface="Arial Black"/>
              </a:defRPr>
            </a:pPr>
            <a:r>
              <a:t>MAX30100 PPG SENSOR</a:t>
            </a:r>
          </a:p>
          <a:p>
            <a:pPr>
              <a:spcBef>
                <a:spcPts val="200"/>
              </a:spcBef>
              <a:defRPr sz="1150" b="1">
                <a:solidFill>
                  <a:srgbClr val="111827"/>
                </a:solidFill>
                <a:latin typeface="Arial"/>
              </a:defRPr>
            </a:pPr>
            <a:r>
              <a:t>I2C SDA → GPIO 21 | SCL → GPIO 22 | VIN → 3.3V | GND → GND (Addr: 0x57)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7356" y="2875788"/>
            <a:ext cx="5242255" cy="8229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816352"/>
            <a:ext cx="5242255" cy="822960"/>
          </a:xfrm>
          <a:prstGeom prst="rec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2889504"/>
            <a:ext cx="4913071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1111"/>
                </a:solidFill>
                <a:latin typeface="Arial Black"/>
              </a:defRPr>
            </a:pPr>
            <a:r>
              <a:t>MPU-6050 6-AXIS IMU</a:t>
            </a:r>
          </a:p>
          <a:p>
            <a:pPr>
              <a:spcBef>
                <a:spcPts val="200"/>
              </a:spcBef>
              <a:defRPr sz="1150" b="1">
                <a:solidFill>
                  <a:srgbClr val="111827"/>
                </a:solidFill>
                <a:latin typeface="Arial"/>
              </a:defRPr>
            </a:pPr>
            <a:r>
              <a:t>I2C SDA → GPIO 21 | SCL → GPIO 22 | VCC → 3.3V | GND → GND (Addr: 0x68)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7356" y="3771900"/>
            <a:ext cx="5242255" cy="8229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712464"/>
            <a:ext cx="5242255" cy="822960"/>
          </a:xfrm>
          <a:prstGeom prst="rect">
            <a:avLst/>
          </a:prstGeom>
          <a:solidFill>
            <a:srgbClr val="FEF3C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785616"/>
            <a:ext cx="4913071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1111"/>
                </a:solidFill>
                <a:latin typeface="Arial Black"/>
              </a:defRPr>
            </a:pPr>
            <a:r>
              <a:t>SSD1306 0.96" OLED</a:t>
            </a:r>
          </a:p>
          <a:p>
            <a:pPr>
              <a:spcBef>
                <a:spcPts val="200"/>
              </a:spcBef>
              <a:defRPr sz="1150" b="1">
                <a:solidFill>
                  <a:srgbClr val="111827"/>
                </a:solidFill>
                <a:latin typeface="Arial"/>
              </a:defRPr>
            </a:pPr>
            <a:r>
              <a:t>I2C SDA → GPIO 21 | SCL → GPIO 22 | VCC → 3.3V | GND → GND (Addr: 0x3C)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7356" y="4668012"/>
            <a:ext cx="5242255" cy="8229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608576"/>
            <a:ext cx="5242255" cy="822960"/>
          </a:xfrm>
          <a:prstGeom prst="rect">
            <a:avLst/>
          </a:prstGeom>
          <a:solidFill>
            <a:srgbClr val="FFEDD5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4681728"/>
            <a:ext cx="4913071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1111"/>
                </a:solidFill>
                <a:latin typeface="Arial Black"/>
              </a:defRPr>
            </a:pPr>
            <a:r>
              <a:t>LM35DZ TEMPERATURE</a:t>
            </a:r>
          </a:p>
          <a:p>
            <a:pPr>
              <a:spcBef>
                <a:spcPts val="200"/>
              </a:spcBef>
              <a:defRPr sz="1150" b="1">
                <a:solidFill>
                  <a:srgbClr val="111827"/>
                </a:solidFill>
                <a:latin typeface="Arial"/>
              </a:defRPr>
            </a:pPr>
            <a:r>
              <a:t>VOUT → GPIO 34 (ADC1_CH6 Analog In) | VCC → 3.3V/5V | GND → GND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7356" y="5564124"/>
            <a:ext cx="5242255" cy="8229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5504688"/>
            <a:ext cx="5242255" cy="822960"/>
          </a:xfrm>
          <a:prstGeom prst="rect">
            <a:avLst/>
          </a:prstGeom>
          <a:solidFill>
            <a:srgbClr val="FEE2E2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5577840"/>
            <a:ext cx="4913071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1111"/>
                </a:solidFill>
                <a:latin typeface="Arial Black"/>
              </a:defRPr>
            </a:pPr>
            <a:r>
              <a:t>ACTIVE PIEZO BUZZER</a:t>
            </a:r>
          </a:p>
          <a:p>
            <a:pPr>
              <a:spcBef>
                <a:spcPts val="200"/>
              </a:spcBef>
              <a:defRPr sz="1150" b="1">
                <a:solidFill>
                  <a:srgbClr val="111827"/>
                </a:solidFill>
                <a:latin typeface="Arial"/>
              </a:defRPr>
            </a:pPr>
            <a:r>
              <a:t>POSITIVE (+) → GPIO 25 (Digital Output) | NEGATIVE (-) → Common GND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096" y="329184"/>
            <a:ext cx="2834640" cy="3200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92608"/>
            <a:ext cx="2834640" cy="320040"/>
          </a:xfrm>
          <a:prstGeom prst="rect">
            <a:avLst/>
          </a:prstGeom>
          <a:solidFill>
            <a:srgbClr val="FFD60A"/>
          </a:solidFill>
          <a:ln w="228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1100" b="1">
                <a:solidFill>
                  <a:srgbClr val="111111"/>
                </a:solidFill>
                <a:latin typeface="Arial Black"/>
              </a:defRPr>
            </a:pPr>
            <a:r>
              <a:t>FIRMWARE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728655" cy="1051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11111"/>
                </a:solidFill>
                <a:latin typeface="Arial Black"/>
              </a:defRPr>
            </a:pPr>
            <a:r>
              <a:t>ESP32 Embedded Firmware Pipeline &amp; Signal Processing</a:t>
            </a:r>
          </a:p>
          <a:p>
            <a:pPr>
              <a:spcBef>
                <a:spcPts val="300"/>
              </a:spcBef>
              <a:defRPr sz="1300" b="1">
                <a:solidFill>
                  <a:srgbClr val="111827"/>
                </a:solidFill>
                <a:latin typeface="Arial"/>
              </a:defRPr>
            </a:pPr>
            <a:r>
              <a:t>How raw microvolt pulses and capacitance signals are converted into accurate vitals on edge.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0956" y="1979676"/>
            <a:ext cx="3383280" cy="4480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3383280" cy="4480560"/>
          </a:xfrm>
          <a:prstGeom prst="rec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980944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 Black"/>
              </a:defRPr>
            </a:pPr>
            <a:r>
              <a:t>1. Multi-Rate Sensor Polling</a:t>
            </a:r>
          </a:p>
          <a:p>
            <a:pPr>
              <a:spcBef>
                <a:spcPts val="600"/>
              </a:spcBef>
              <a:defRPr sz="1200" b="1">
                <a:solidFill>
                  <a:srgbClr val="111827"/>
                </a:solidFill>
                <a:latin typeface="Arial"/>
              </a:defRPr>
            </a:pPr>
            <a:r>
              <a:t>Timer-driven asynchronous interrupts manage non-blocking telemetry acquisition.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111111"/>
                </a:solidFill>
                <a:latin typeface="Arial"/>
              </a:rPr>
              <a:t>▪ </a:t>
            </a:r>
            <a:r>
              <a:rPr b="1" sz="1150">
                <a:solidFill>
                  <a:srgbClr val="111111"/>
                </a:solidFill>
                <a:latin typeface="Arial Black"/>
              </a:rPr>
              <a:t>100 Hz Optical Pulse Loop: </a:t>
            </a:r>
            <a:r>
              <a:rPr b="0" sz="1150">
                <a:solidFill>
                  <a:srgbClr val="111827"/>
                </a:solidFill>
                <a:latin typeface="Arial"/>
              </a:rPr>
              <a:t>Reads Red and IR FIFO registers from MAX30100 to capture subtle capillary pressure waves.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111111"/>
                </a:solidFill>
                <a:latin typeface="Arial"/>
              </a:rPr>
              <a:t>▪ </a:t>
            </a:r>
            <a:r>
              <a:rPr b="1" sz="1150">
                <a:solidFill>
                  <a:srgbClr val="111111"/>
                </a:solidFill>
                <a:latin typeface="Arial Black"/>
              </a:rPr>
              <a:t>50 Hz Motion Kinematics: </a:t>
            </a:r>
            <a:r>
              <a:rPr b="0" sz="1150">
                <a:solidFill>
                  <a:srgbClr val="111827"/>
                </a:solidFill>
                <a:latin typeface="Arial"/>
              </a:rPr>
              <a:t>Pulls X/Y/Z accelerometer vectors from MPU-6050 to track active limb movement.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111111"/>
                </a:solidFill>
                <a:latin typeface="Arial"/>
              </a:rPr>
              <a:t>▪ </a:t>
            </a:r>
            <a:r>
              <a:rPr b="1" sz="1150">
                <a:solidFill>
                  <a:srgbClr val="111111"/>
                </a:solidFill>
                <a:latin typeface="Arial Black"/>
              </a:rPr>
              <a:t>1 Hz Thermal Averaging: </a:t>
            </a:r>
            <a:r>
              <a:rPr b="0" sz="1150">
                <a:solidFill>
                  <a:srgbClr val="111827"/>
                </a:solidFill>
                <a:latin typeface="Arial"/>
              </a:rPr>
              <a:t>Performs 32-sample burst oversampling on LM35DZ output to eliminate ADC conversion jitter.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7700" y="1979676"/>
            <a:ext cx="3383280" cy="4480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98264" y="1920240"/>
            <a:ext cx="3383280" cy="4480560"/>
          </a:xfrm>
          <a:prstGeom prst="rect">
            <a:avLst/>
          </a:prstGeom>
          <a:solidFill>
            <a:srgbClr val="FEF3C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2121408"/>
            <a:ext cx="2980944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 Black"/>
              </a:defRPr>
            </a:pPr>
            <a:r>
              <a:t>2. Real-Time DC Drift &amp; Peak Detection</a:t>
            </a:r>
          </a:p>
          <a:p>
            <a:pPr>
              <a:spcBef>
                <a:spcPts val="600"/>
              </a:spcBef>
              <a:defRPr sz="1200" b="1">
                <a:solidFill>
                  <a:srgbClr val="111827"/>
                </a:solidFill>
                <a:latin typeface="Arial"/>
              </a:defRPr>
            </a:pPr>
            <a:r>
              <a:t>Digital filtering algorithms run directly on the ESP32 Tensilica dual-core MCU.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111111"/>
                </a:solidFill>
                <a:latin typeface="Arial"/>
              </a:rPr>
              <a:t>▪ </a:t>
            </a:r>
            <a:r>
              <a:rPr b="1" sz="1150">
                <a:solidFill>
                  <a:srgbClr val="111111"/>
                </a:solidFill>
                <a:latin typeface="Arial Black"/>
              </a:rPr>
              <a:t>DC Drift Removal Filter: </a:t>
            </a:r>
            <a:r>
              <a:rPr b="0" sz="1150">
                <a:solidFill>
                  <a:srgbClr val="111827"/>
                </a:solidFill>
                <a:latin typeface="Arial"/>
              </a:rPr>
              <a:t>High-pass IIR filter strips static tissue and baseline skin absorption drift.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111111"/>
                </a:solidFill>
                <a:latin typeface="Arial"/>
              </a:rPr>
              <a:t>▪ </a:t>
            </a:r>
            <a:r>
              <a:rPr b="1" sz="1150">
                <a:solidFill>
                  <a:srgbClr val="111111"/>
                </a:solidFill>
                <a:latin typeface="Arial Black"/>
              </a:rPr>
              <a:t>Dynamic Systolic Peak Finder: </a:t>
            </a:r>
            <a:r>
              <a:rPr b="0" sz="1150">
                <a:solidFill>
                  <a:srgbClr val="111827"/>
                </a:solidFill>
                <a:latin typeface="Arial"/>
              </a:rPr>
              <a:t>Adaptive threshold detects genuine cardiac contractions and calculates R-to-R interval (BPM).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111111"/>
                </a:solidFill>
                <a:latin typeface="Arial"/>
              </a:rPr>
              <a:t>▪ </a:t>
            </a:r>
            <a:r>
              <a:rPr b="1" sz="1150">
                <a:solidFill>
                  <a:srgbClr val="111111"/>
                </a:solidFill>
                <a:latin typeface="Arial Black"/>
              </a:rPr>
              <a:t>Oxygen Saturation Ratio: </a:t>
            </a:r>
            <a:r>
              <a:rPr b="0" sz="1150">
                <a:solidFill>
                  <a:srgbClr val="111827"/>
                </a:solidFill>
                <a:latin typeface="Arial"/>
              </a:rPr>
              <a:t>Computes (AC_red / DC_red) / (AC_ir / DC_ir) ratio to evaluate real-time SpO2 percentage.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4444" y="1979676"/>
            <a:ext cx="3383280" cy="4480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65008" y="1920240"/>
            <a:ext cx="3383280" cy="4480560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6" y="2121408"/>
            <a:ext cx="2980944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 Black"/>
              </a:defRPr>
            </a:pPr>
            <a:r>
              <a:t>3. Context-Aware Stress State Engine</a:t>
            </a:r>
          </a:p>
          <a:p>
            <a:pPr>
              <a:spcBef>
                <a:spcPts val="600"/>
              </a:spcBef>
              <a:defRPr sz="1200" b="1">
                <a:solidFill>
                  <a:srgbClr val="111827"/>
                </a:solidFill>
                <a:latin typeface="Arial"/>
              </a:defRPr>
            </a:pPr>
            <a:r>
              <a:t>Eliminates false alarms through sensor fusion before generating user notifications.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111111"/>
                </a:solidFill>
                <a:latin typeface="Arial"/>
              </a:rPr>
              <a:t>▪ </a:t>
            </a:r>
            <a:r>
              <a:rPr b="1" sz="1150">
                <a:solidFill>
                  <a:srgbClr val="111111"/>
                </a:solidFill>
                <a:latin typeface="Arial Black"/>
              </a:rPr>
              <a:t>Physiological Cross-Check: </a:t>
            </a:r>
            <a:r>
              <a:rPr b="0" sz="1150">
                <a:solidFill>
                  <a:srgbClr val="111827"/>
                </a:solidFill>
                <a:latin typeface="Arial"/>
              </a:rPr>
              <a:t>High HR + Zero Motion (|A| &lt; 1.05g) = WATCHFUL (Mental Stress Detected).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111111"/>
                </a:solidFill>
                <a:latin typeface="Arial"/>
              </a:rPr>
              <a:t>▪ </a:t>
            </a:r>
            <a:r>
              <a:rPr b="1" sz="1150">
                <a:solidFill>
                  <a:srgbClr val="111111"/>
                </a:solidFill>
                <a:latin typeface="Arial Black"/>
              </a:rPr>
              <a:t>Exercise Suppression: </a:t>
            </a:r>
            <a:r>
              <a:rPr b="0" sz="1150">
                <a:solidFill>
                  <a:srgbClr val="111827"/>
                </a:solidFill>
                <a:latin typeface="Arial"/>
              </a:rPr>
              <a:t>High HR + Active Motion (|A| &gt; 1.30g) = ACTIVE (Physical Exercise, No Alarm).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111111"/>
                </a:solidFill>
                <a:latin typeface="Arial"/>
              </a:rPr>
              <a:t>▪ </a:t>
            </a:r>
            <a:r>
              <a:rPr b="1" sz="1150">
                <a:solidFill>
                  <a:srgbClr val="111111"/>
                </a:solidFill>
                <a:latin typeface="Arial Black"/>
              </a:rPr>
              <a:t>Local Actuation: </a:t>
            </a:r>
            <a:r>
              <a:rPr b="0" sz="1150">
                <a:solidFill>
                  <a:srgbClr val="111827"/>
                </a:solidFill>
                <a:latin typeface="Arial"/>
              </a:rPr>
              <a:t>Refreshes OLED screen every 200ms and pulses buzzer only during genuine physiological anomalies.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096" y="329184"/>
            <a:ext cx="2491740" cy="3200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92608"/>
            <a:ext cx="2491740" cy="320040"/>
          </a:xfrm>
          <a:prstGeom prst="rect">
            <a:avLst/>
          </a:prstGeom>
          <a:solidFill>
            <a:srgbClr val="FFD60A"/>
          </a:solidFill>
          <a:ln w="228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1100" b="1">
                <a:solidFill>
                  <a:srgbClr val="111111"/>
                </a:solidFill>
                <a:latin typeface="Arial Black"/>
              </a:defRPr>
            </a:pPr>
            <a:r>
              <a:t>FIELD 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728655" cy="1051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11111"/>
                </a:solidFill>
                <a:latin typeface="Arial Black"/>
              </a:defRPr>
            </a:pPr>
            <a:r>
              <a:t>Real-World Applications of AWEN Hardware System</a:t>
            </a:r>
          </a:p>
          <a:p>
            <a:pPr>
              <a:spcBef>
                <a:spcPts val="300"/>
              </a:spcBef>
              <a:defRPr sz="1300" b="1">
                <a:solidFill>
                  <a:srgbClr val="111827"/>
                </a:solidFill>
                <a:latin typeface="Arial"/>
              </a:defRPr>
            </a:pPr>
            <a:r>
              <a:t>Transforming wearable health monitoring across diverse high-stress and healthcare domains.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0956" y="1979676"/>
            <a:ext cx="5212080" cy="21488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5212080" cy="2148840"/>
          </a:xfrm>
          <a:prstGeom prst="rect">
            <a:avLst/>
          </a:prstGeom>
          <a:solidFill>
            <a:srgbClr val="FEF3C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29968"/>
            <a:ext cx="4882896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t>1. Cognitive Burnout &amp; Student Stress</a:t>
            </a:r>
          </a:p>
          <a:p>
            <a:pPr>
              <a:spcBef>
                <a:spcPts val="300"/>
              </a:spcBef>
            </a:pPr>
            <a:r>
              <a:rPr b="1" sz="1150">
                <a:solidFill>
                  <a:srgbClr val="111111"/>
                </a:solidFill>
                <a:latin typeface="Arial"/>
              </a:rPr>
              <a:t>▪ </a:t>
            </a:r>
            <a:r>
              <a:rPr b="1" sz="1150">
                <a:solidFill>
                  <a:srgbClr val="111111"/>
                </a:solidFill>
                <a:latin typeface="Arial Black"/>
              </a:rPr>
              <a:t>Subconscious Stress Detection: </a:t>
            </a:r>
            <a:r>
              <a:rPr b="0" sz="1150">
                <a:solidFill>
                  <a:srgbClr val="111827"/>
                </a:solidFill>
                <a:latin typeface="Arial"/>
              </a:rPr>
              <a:t>Detects prolonged elevated heart rate with dropped skin temperature during sedentary desk work.</a:t>
            </a:r>
          </a:p>
          <a:p>
            <a:pPr>
              <a:spcBef>
                <a:spcPts val="300"/>
              </a:spcBef>
            </a:pPr>
            <a:r>
              <a:rPr b="1" sz="1150">
                <a:solidFill>
                  <a:srgbClr val="111111"/>
                </a:solidFill>
                <a:latin typeface="Arial"/>
              </a:rPr>
              <a:t>▪ </a:t>
            </a:r>
            <a:r>
              <a:rPr b="1" sz="1150">
                <a:solidFill>
                  <a:srgbClr val="111111"/>
                </a:solidFill>
                <a:latin typeface="Arial Black"/>
              </a:rPr>
              <a:t>Gentle Haptic/Buzzer Cue: </a:t>
            </a:r>
            <a:r>
              <a:rPr b="0" sz="1150">
                <a:solidFill>
                  <a:srgbClr val="111827"/>
                </a:solidFill>
                <a:latin typeface="Arial"/>
              </a:rPr>
              <a:t>Provides discreet buzzer chimes prompting the user to take a 2-minute respiratory reset.</a:t>
            </a:r>
          </a:p>
          <a:p>
            <a:pPr>
              <a:spcBef>
                <a:spcPts val="300"/>
              </a:spcBef>
            </a:pPr>
            <a:r>
              <a:rPr b="1" sz="1150">
                <a:solidFill>
                  <a:srgbClr val="111111"/>
                </a:solidFill>
                <a:latin typeface="Arial"/>
              </a:rPr>
              <a:t>▪ </a:t>
            </a:r>
            <a:r>
              <a:rPr b="1" sz="1150">
                <a:solidFill>
                  <a:srgbClr val="111111"/>
                </a:solidFill>
                <a:latin typeface="Arial Black"/>
              </a:rPr>
              <a:t>Productivity Preservation: </a:t>
            </a:r>
            <a:r>
              <a:rPr b="0" sz="1150">
                <a:solidFill>
                  <a:srgbClr val="111827"/>
                </a:solidFill>
                <a:latin typeface="Arial"/>
              </a:rPr>
              <a:t>Helps prevent chronic mental exhaustion and burnout before physical symptoms manifest.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7531" y="1979676"/>
            <a:ext cx="5212080" cy="21488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920240"/>
            <a:ext cx="5212080" cy="2148840"/>
          </a:xfrm>
          <a:prstGeom prst="rect">
            <a:avLst/>
          </a:prstGeom>
          <a:solidFill>
            <a:srgbClr val="FEE2E2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2687" y="2029968"/>
            <a:ext cx="4882896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t>2. Elderly Remote Care &amp; Nocturnal Watch</a:t>
            </a:r>
          </a:p>
          <a:p>
            <a:pPr>
              <a:spcBef>
                <a:spcPts val="300"/>
              </a:spcBef>
            </a:pPr>
            <a:r>
              <a:rPr b="1" sz="1150">
                <a:solidFill>
                  <a:srgbClr val="111111"/>
                </a:solidFill>
                <a:latin typeface="Arial"/>
              </a:rPr>
              <a:t>▪ </a:t>
            </a:r>
            <a:r>
              <a:rPr b="1" sz="1150">
                <a:solidFill>
                  <a:srgbClr val="111111"/>
                </a:solidFill>
                <a:latin typeface="Arial Black"/>
              </a:rPr>
              <a:t>Hypoxia Warning System: </a:t>
            </a:r>
            <a:r>
              <a:rPr b="0" sz="1150">
                <a:solidFill>
                  <a:srgbClr val="111827"/>
                </a:solidFill>
                <a:latin typeface="Arial"/>
              </a:rPr>
              <a:t>Auditory buzzer alarm sounds immediately if blood oxygen saturation drops below 92% SpO2.</a:t>
            </a:r>
          </a:p>
          <a:p>
            <a:pPr>
              <a:spcBef>
                <a:spcPts val="300"/>
              </a:spcBef>
            </a:pPr>
            <a:r>
              <a:rPr b="1" sz="1150">
                <a:solidFill>
                  <a:srgbClr val="111111"/>
                </a:solidFill>
                <a:latin typeface="Arial"/>
              </a:rPr>
              <a:t>▪ </a:t>
            </a:r>
            <a:r>
              <a:rPr b="1" sz="1150">
                <a:solidFill>
                  <a:srgbClr val="111111"/>
                </a:solidFill>
                <a:latin typeface="Arial Black"/>
              </a:rPr>
              <a:t>Restless Sleep &amp; Fall Detection: </a:t>
            </a:r>
            <a:r>
              <a:rPr b="0" sz="1150">
                <a:solidFill>
                  <a:srgbClr val="111827"/>
                </a:solidFill>
                <a:latin typeface="Arial"/>
              </a:rPr>
              <a:t>MPU-6050 accelerometer flags sudden impact shock or abnormal overnight restlessness.</a:t>
            </a:r>
          </a:p>
          <a:p>
            <a:pPr>
              <a:spcBef>
                <a:spcPts val="300"/>
              </a:spcBef>
            </a:pPr>
            <a:r>
              <a:rPr b="1" sz="1150">
                <a:solidFill>
                  <a:srgbClr val="111111"/>
                </a:solidFill>
                <a:latin typeface="Arial"/>
              </a:rPr>
              <a:t>▪ </a:t>
            </a:r>
            <a:r>
              <a:rPr b="1" sz="1150">
                <a:solidFill>
                  <a:srgbClr val="111111"/>
                </a:solidFill>
                <a:latin typeface="Arial Black"/>
              </a:rPr>
              <a:t>Zero Smartphone Dependency: </a:t>
            </a:r>
            <a:r>
              <a:rPr b="0" sz="1150">
                <a:solidFill>
                  <a:srgbClr val="111827"/>
                </a:solidFill>
                <a:latin typeface="Arial"/>
              </a:rPr>
              <a:t>Caregivers can inspect vitals directly on the high-visibility glowing OLED display.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" y="4311396"/>
            <a:ext cx="5212080" cy="21488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251960"/>
            <a:ext cx="5212080" cy="2148840"/>
          </a:xfrm>
          <a:prstGeom prst="rec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361688"/>
            <a:ext cx="4882896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t>3. High-Stress Industrial &amp; Shift Workers</a:t>
            </a:r>
          </a:p>
          <a:p>
            <a:pPr>
              <a:spcBef>
                <a:spcPts val="300"/>
              </a:spcBef>
            </a:pPr>
            <a:r>
              <a:rPr b="1" sz="1150">
                <a:solidFill>
                  <a:srgbClr val="111111"/>
                </a:solidFill>
                <a:latin typeface="Arial"/>
              </a:rPr>
              <a:t>▪ </a:t>
            </a:r>
            <a:r>
              <a:rPr b="1" sz="1150">
                <a:solidFill>
                  <a:srgbClr val="111111"/>
                </a:solidFill>
                <a:latin typeface="Arial Black"/>
              </a:rPr>
              <a:t>Fatigue Early Warning: </a:t>
            </a:r>
            <a:r>
              <a:rPr b="0" sz="1150">
                <a:solidFill>
                  <a:srgbClr val="111827"/>
                </a:solidFill>
                <a:latin typeface="Arial"/>
              </a:rPr>
              <a:t>Correlates micro-fluctuations in heart rate variability and peripheral cooling with cognitive fatigue.</a:t>
            </a:r>
          </a:p>
          <a:p>
            <a:pPr>
              <a:spcBef>
                <a:spcPts val="300"/>
              </a:spcBef>
            </a:pPr>
            <a:r>
              <a:rPr b="1" sz="1150">
                <a:solidFill>
                  <a:srgbClr val="111111"/>
                </a:solidFill>
                <a:latin typeface="Arial"/>
              </a:rPr>
              <a:t>▪ </a:t>
            </a:r>
            <a:r>
              <a:rPr b="1" sz="1150">
                <a:solidFill>
                  <a:srgbClr val="111111"/>
                </a:solidFill>
                <a:latin typeface="Arial Black"/>
              </a:rPr>
              <a:t>Motion Context Validation: </a:t>
            </a:r>
            <a:r>
              <a:rPr b="0" sz="1150">
                <a:solidFill>
                  <a:srgbClr val="111827"/>
                </a:solidFill>
                <a:latin typeface="Arial"/>
              </a:rPr>
              <a:t>Distinguishes between physical tool operation and sympathetic anxiety spikes.</a:t>
            </a:r>
          </a:p>
          <a:p>
            <a:pPr>
              <a:spcBef>
                <a:spcPts val="300"/>
              </a:spcBef>
            </a:pPr>
            <a:r>
              <a:rPr b="1" sz="1150">
                <a:solidFill>
                  <a:srgbClr val="111111"/>
                </a:solidFill>
                <a:latin typeface="Arial"/>
              </a:rPr>
              <a:t>▪ </a:t>
            </a:r>
            <a:r>
              <a:rPr b="1" sz="1150">
                <a:solidFill>
                  <a:srgbClr val="111111"/>
                </a:solidFill>
                <a:latin typeface="Arial Black"/>
              </a:rPr>
              <a:t>Accident Prevention: </a:t>
            </a:r>
            <a:r>
              <a:rPr b="0" sz="1150">
                <a:solidFill>
                  <a:srgbClr val="111827"/>
                </a:solidFill>
                <a:latin typeface="Arial"/>
              </a:rPr>
              <a:t>Enables proactive mandatory rest rotations before critical operational errors occur.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7531" y="4311396"/>
            <a:ext cx="5212080" cy="21488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8095" y="4251960"/>
            <a:ext cx="5212080" cy="2148840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2687" y="4361688"/>
            <a:ext cx="4882896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t>4. Edge-First Data Privacy Compliance</a:t>
            </a:r>
          </a:p>
          <a:p>
            <a:pPr>
              <a:spcBef>
                <a:spcPts val="300"/>
              </a:spcBef>
            </a:pPr>
            <a:r>
              <a:rPr b="1" sz="1150">
                <a:solidFill>
                  <a:srgbClr val="111111"/>
                </a:solidFill>
                <a:latin typeface="Arial"/>
              </a:rPr>
              <a:t>▪ </a:t>
            </a:r>
            <a:r>
              <a:rPr b="1" sz="1150">
                <a:solidFill>
                  <a:srgbClr val="111111"/>
                </a:solidFill>
                <a:latin typeface="Arial Black"/>
              </a:rPr>
              <a:t>Zero Commercial Cloud Leakage: </a:t>
            </a:r>
            <a:r>
              <a:rPr b="0" sz="1150">
                <a:solidFill>
                  <a:srgbClr val="111827"/>
                </a:solidFill>
                <a:latin typeface="Arial"/>
              </a:rPr>
              <a:t>All physiological processing and baselines remain strictly on the local hardware/host.</a:t>
            </a:r>
          </a:p>
          <a:p>
            <a:pPr>
              <a:spcBef>
                <a:spcPts val="300"/>
              </a:spcBef>
            </a:pPr>
            <a:r>
              <a:rPr b="1" sz="1150">
                <a:solidFill>
                  <a:srgbClr val="111111"/>
                </a:solidFill>
                <a:latin typeface="Arial"/>
              </a:rPr>
              <a:t>▪ </a:t>
            </a:r>
            <a:r>
              <a:rPr b="1" sz="1150">
                <a:solidFill>
                  <a:srgbClr val="111111"/>
                </a:solidFill>
                <a:latin typeface="Arial Black"/>
              </a:rPr>
              <a:t>GDPR / HIPAA Compatible: </a:t>
            </a:r>
            <a:r>
              <a:rPr b="0" sz="1150">
                <a:solidFill>
                  <a:srgbClr val="111827"/>
                </a:solidFill>
                <a:latin typeface="Arial"/>
              </a:rPr>
              <a:t>No centralized databases storing biometric signatures susceptible to data breaches.</a:t>
            </a:r>
          </a:p>
          <a:p>
            <a:pPr>
              <a:spcBef>
                <a:spcPts val="300"/>
              </a:spcBef>
            </a:pPr>
            <a:r>
              <a:rPr b="1" sz="1150">
                <a:solidFill>
                  <a:srgbClr val="111111"/>
                </a:solidFill>
                <a:latin typeface="Arial"/>
              </a:rPr>
              <a:t>▪ </a:t>
            </a:r>
            <a:r>
              <a:rPr b="1" sz="1150">
                <a:solidFill>
                  <a:srgbClr val="111111"/>
                </a:solidFill>
                <a:latin typeface="Arial Black"/>
              </a:rPr>
              <a:t>Accessible Low-Cost Healthcare: </a:t>
            </a:r>
            <a:r>
              <a:rPr b="0" sz="1150">
                <a:solidFill>
                  <a:srgbClr val="111827"/>
                </a:solidFill>
                <a:latin typeface="Arial"/>
              </a:rPr>
              <a:t>Built with commodity hardware under Rs 1,500 ($18 USD), democratizing vital monitoring.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096" y="329184"/>
            <a:ext cx="3063240" cy="3200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92608"/>
            <a:ext cx="3063240" cy="320040"/>
          </a:xfrm>
          <a:prstGeom prst="rect">
            <a:avLst/>
          </a:prstGeom>
          <a:solidFill>
            <a:srgbClr val="FFD60A"/>
          </a:solidFill>
          <a:ln w="228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1100" b="1">
                <a:solidFill>
                  <a:srgbClr val="111111"/>
                </a:solidFill>
                <a:latin typeface="Arial Black"/>
              </a:defRPr>
            </a:pPr>
            <a:r>
              <a:t>SUMMARY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728655" cy="1051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111111"/>
                </a:solidFill>
                <a:latin typeface="Arial Black"/>
              </a:defRPr>
            </a:pPr>
            <a:r>
              <a:t>Hardware Summary &amp; Future Enhancements</a:t>
            </a:r>
          </a:p>
          <a:p>
            <a:pPr>
              <a:spcBef>
                <a:spcPts val="300"/>
              </a:spcBef>
              <a:defRPr sz="1300" b="1">
                <a:solidFill>
                  <a:srgbClr val="111827"/>
                </a:solidFill>
                <a:latin typeface="Arial"/>
              </a:defRPr>
            </a:pPr>
            <a:r>
              <a:t>Robust, low-cost physiological telemetry platform ready for next-generation miniaturization.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0956" y="1979676"/>
            <a:ext cx="5212080" cy="37947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5212080" cy="3794760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 Black"/>
              </a:defRPr>
            </a:pPr>
            <a:r>
              <a:t>Key Hardware Achievements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100% Functional Multi-Sensor Sync: </a:t>
            </a:r>
            <a:r>
              <a:rPr b="0" sz="1200">
                <a:solidFill>
                  <a:srgbClr val="111827"/>
                </a:solidFill>
                <a:latin typeface="Arial"/>
              </a:rPr>
              <a:t>Synchronously streams optical PPG (MAX30100), 6-DOF motion (MPU-6050), and skin temp (LM35DZ).</a:t>
            </a:r>
          </a:p>
          <a:p>
            <a:pPr>
              <a:spcBef>
                <a:spcPts val="7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Real-Time Motion Filtered: </a:t>
            </a:r>
            <a:r>
              <a:rPr b="0" sz="1200">
                <a:solidFill>
                  <a:srgbClr val="111827"/>
                </a:solidFill>
                <a:latin typeface="Arial"/>
              </a:rPr>
              <a:t>Completely eliminates false stress notifications during physical walking or exercise.</a:t>
            </a:r>
          </a:p>
          <a:p>
            <a:pPr>
              <a:spcBef>
                <a:spcPts val="7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Zero Latency Local Feedback: </a:t>
            </a:r>
            <a:r>
              <a:rPr b="0" sz="1200">
                <a:solidFill>
                  <a:srgbClr val="111827"/>
                </a:solidFill>
                <a:latin typeface="Arial"/>
              </a:rPr>
              <a:t>Instantaneous OLED vital rendering and active piezo auditory warning without phone app.</a:t>
            </a:r>
          </a:p>
          <a:p>
            <a:pPr>
              <a:spcBef>
                <a:spcPts val="7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Ultra Low Bill of Materials (BOM): </a:t>
            </a:r>
            <a:r>
              <a:rPr b="0" sz="1200">
                <a:solidFill>
                  <a:srgbClr val="111827"/>
                </a:solidFill>
                <a:latin typeface="Arial"/>
              </a:rPr>
              <a:t>Complete wearable sensing pod constructed under Rs 1,500, offering immense scalability.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7531" y="1979676"/>
            <a:ext cx="5212080" cy="37947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920240"/>
            <a:ext cx="5212080" cy="3794760"/>
          </a:xfrm>
          <a:prstGeom prst="rect">
            <a:avLst/>
          </a:prstGeom>
          <a:solidFill>
            <a:srgbClr val="FEF3C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201168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 Black"/>
              </a:defRPr>
            </a:pPr>
            <a:r>
              <a:t>Future Hardware Enhancements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Sensor Upgrade: MAX30102: </a:t>
            </a:r>
            <a:r>
              <a:rPr b="0" sz="1200">
                <a:solidFill>
                  <a:srgbClr val="111827"/>
                </a:solidFill>
                <a:latin typeface="Arial"/>
              </a:rPr>
              <a:t>Transition to next-gen MAX30102 with integrated glass cover and higher optical SNR.</a:t>
            </a:r>
          </a:p>
          <a:p>
            <a:pPr>
              <a:spcBef>
                <a:spcPts val="7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Electrodermal Activity (GSR / EDA): </a:t>
            </a:r>
            <a:r>
              <a:rPr b="0" sz="1200">
                <a:solidFill>
                  <a:srgbClr val="111827"/>
                </a:solidFill>
                <a:latin typeface="Arial"/>
              </a:rPr>
              <a:t>Integrate galvanic skin response electrodes to directly quantify sympathetic sweat gland activity.</a:t>
            </a:r>
          </a:p>
          <a:p>
            <a:pPr>
              <a:spcBef>
                <a:spcPts val="7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Rechargeable Power Management: </a:t>
            </a:r>
            <a:r>
              <a:rPr b="0" sz="1200">
                <a:solidFill>
                  <a:srgbClr val="111827"/>
                </a:solidFill>
                <a:latin typeface="Arial"/>
              </a:rPr>
              <a:t>Implement 3.7V 500mAh LiPo battery with TP4056 micro-USB charging and MCP1700 LDO regulator.</a:t>
            </a:r>
          </a:p>
          <a:p>
            <a:pPr>
              <a:spcBef>
                <a:spcPts val="700"/>
              </a:spcBef>
            </a:pPr>
            <a:r>
              <a:rPr b="1" sz="1200">
                <a:solidFill>
                  <a:srgbClr val="111111"/>
                </a:solidFill>
                <a:latin typeface="Arial"/>
              </a:rPr>
              <a:t>▪ </a:t>
            </a:r>
            <a:r>
              <a:rPr b="1" sz="1200">
                <a:solidFill>
                  <a:srgbClr val="111111"/>
                </a:solidFill>
                <a:latin typeface="Arial Black"/>
              </a:rPr>
              <a:t>Custom Wearable Wristband PCB: </a:t>
            </a:r>
            <a:r>
              <a:rPr b="0" sz="1200">
                <a:solidFill>
                  <a:srgbClr val="111827"/>
                </a:solidFill>
                <a:latin typeface="Arial"/>
              </a:rPr>
              <a:t>Design custom 2-layer rigid-flex PCB and snap-fit 3D printed ergonomic wrist casing.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" y="5929884"/>
            <a:ext cx="10728655" cy="62179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5870448"/>
            <a:ext cx="10728655" cy="62179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907024"/>
            <a:ext cx="1036289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11111"/>
                </a:solidFill>
                <a:latin typeface="Arial Black"/>
              </a:defRPr>
            </a:pPr>
            <a:r>
              <a:t>AWEN TAKEAWAY: Moving from generic cutoff alarms to continuous, motion-aware personal baseline intelligence.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