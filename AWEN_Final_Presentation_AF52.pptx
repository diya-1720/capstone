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474720" cy="36576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111"/>
                </a:solidFill>
                <a:latin typeface="Arial Black"/>
              </a:defRPr>
            </a:pPr>
            <a:r>
              <a:t>3RD SEMESTER | CSE (DATA SCIENCE)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11111"/>
                </a:solidFill>
                <a:latin typeface="Arial Black"/>
              </a:defRPr>
            </a:pPr>
            <a:r>
              <a:t>AWEN: Smart Health &amp; Stress Companion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Arial"/>
              </a:defRPr>
            </a:pPr>
            <a:r>
              <a:t>A smart wearable pod that learns YOUR personal normal and stops annoying false stress alarms.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520440"/>
            <a:ext cx="2560320" cy="265176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85032"/>
            <a:ext cx="2231136" cy="2322576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ESP32 HARDWARE POD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Reads your pulse, blood oxygen (SpO2), skin temperature, and motion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3520440"/>
            <a:ext cx="2560320" cy="265176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3685032"/>
            <a:ext cx="2231136" cy="2322576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PERSONAL NORMAL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Compares your body to YOUR OWN baseline, not to a generic one-size-fits-all medical cutoff.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520440"/>
            <a:ext cx="2560320" cy="26517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3685032"/>
            <a:ext cx="2231136" cy="2322576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SMART MOTION FILTER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Knows when you are walking or exercising so you never get false stress alarms.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8824" y="3575304"/>
            <a:ext cx="2560320" cy="2651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3520440"/>
            <a:ext cx="2560320" cy="265176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3685032"/>
            <a:ext cx="2231136" cy="2322576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100% PRIVATE &amp; SAFE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Saved right on your own laptop in local SQLite. Zero biometric data leaves your machine.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36208"/>
            <a:ext cx="10728655" cy="43891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254496"/>
            <a:ext cx="10545775" cy="402336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Arial"/>
              </a:defRPr>
            </a:pPr>
            <a:r>
              <a:t>TEAM: Diya Singh (Project Lead · EU1258014), Parth Topale (EU1258058), Nishtha Lokhande (EU1258019), Swara Patil (EU1258011) | Guide: Prof. Sachin Sase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212848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Why Do Normal Fitness Watches Annoy Users?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Current smartwatches compare everyone to generic averages and cause unnecessary panic.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1. Generic 100 BPM Rule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Standard watches flag any heart rate over 100 BPM as dangerous tachycardia.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Ignores individual physiology: An athlete rests at 50 BPM, while a student rests at 80 BPM.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A single fixed medical cutoff cannot fit both people!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2. Walking = False Stress Alarm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When you climb stairs or walk quickly, your heart naturally beats faster.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Watches are motion-blind: They cannot tell if you are moving or sitting still.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They falsely beep: 'You are stressed!' when you were just walking!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3. Scary Warnings &amp; Cloud Leaks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Sudden red alarms create anxiety and fear instead of helping you feel calm.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Alarms trigger acute panic loops rather than gentle guidance.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In addition, private biometrics get shipped to commercial cloud servers for monetization.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773936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AWEN Difference: Personal Normal + Caring Mascot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Instead of hospital alarms, AWEN acts as an empathetic personal companion.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1. We Learn YOUR Personal Normal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Over the first 3 to 7 days, AWEN observes your daily routine and calculates YOUR personal normal range (μ ± 2σ). It asks: 'Is your body unusual for YOU?' instead of applying generic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2. Smart Motion Filter (No False Alarms)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We connect an optical pulse sensor AND an MPU-6050 motion sensor. If your pulse rises while walking, AWEN knows it is healthy exertion and stays completely quiet.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2578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3. Living Friendly Mascot (Awen)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Replaces scary hospital charts with 'Awen' — a friendly vector mascot that changes color with your body: Green when balanced, Yellow when active, and Amber when watchful.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206240"/>
            <a:ext cx="52578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4. 100% Private on Your Machine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Zero cloud databases. All sensor readings and reflections stay safely in a local SQLite database (awen.db) on your own laptop. Complete data sovereignty guaranteed.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How The Whole System Works in 3 Clear Steps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From your finger to the local brain and your web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450" b="1">
                <a:solidFill>
                  <a:srgbClr val="111111"/>
                </a:solidFill>
                <a:latin typeface="Arial Black"/>
              </a:defRPr>
            </a:pPr>
            <a:r>
              <a:t>STEP 1: SENSOR POD (Wrist / Finger)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ESP32 Microcontroller Pod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MAX30102: Reads pulse and oxygen (SpO2).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MPU-6050: 3-axis motion sensor checks movement.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LM35: Measures direct skin temperature.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OLED Screen: Live pulse right on your wrist.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Streams over local Wi-Fi or direct USB cable.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450" b="1">
                <a:solidFill>
                  <a:srgbClr val="111111"/>
                </a:solidFill>
                <a:latin typeface="Arial Black"/>
              </a:defRPr>
            </a:pPr>
            <a:r>
              <a:t>STEP 2: LOCAL BRAIN (Python FastAPI)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Fast Local Server on Port 8000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Ingests sensor data every second in real time.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Calculates your rolling personal normal (μ ± 2σ).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Runs Isolation Forest ML to detect real stress.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Stores all history in local SQLite (awen.db).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100% offline, zero internet connection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450" b="1">
                <a:solidFill>
                  <a:srgbClr val="111111"/>
                </a:solidFill>
                <a:latin typeface="Arial Black"/>
              </a:defRPr>
            </a:pPr>
            <a:r>
              <a:t>STEP 3: WEB APP (React 19 Dashboard)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Modern Interactive Interface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Live 60 FPS pulse waveform oscilloscope.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Living Mascot responds dynamically to vitals.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7-Day Journey displays your baseline corridor.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Empathetic check-ins and breathing guides.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Free of confusing medical jargon.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773936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HARDWARE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Physical Sensors We Connected &amp; Programmed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Real biomedical and motion hardware communicating over high-speed I2C.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4290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ESP32 Microcontroller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Dual-core 240MHz chip with built-in Wi-Fi and Bluetooth. Handles sensor reading and web streaming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965960"/>
            <a:ext cx="34290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3055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MAX30102 Pulse &amp; SpO2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High-precision optical sensor. Uses red (660nm) and infrared (880nm) light to read pulse and SpO2 at I2C address 0x57.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965960"/>
            <a:ext cx="34290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3055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MPU-6050 Motion Sensor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3-axis accelerometer and gyro at I2C address 0x68. Computes total movement vector |a| to know when the user is moving.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3429000" cy="205740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LM35 Temperature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Measures skin temperature directly in Celsius (+10 mV/°C) via ESP32 analog pin GPIO 34 with noise filtering.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4206240"/>
            <a:ext cx="34290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37083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SSD1306 OLED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Mini 0.96-inch display on the pod showing live pulse, Wi-Fi IP, and motion status at I2C address 0x3C.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4206240"/>
            <a:ext cx="3429000" cy="2057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37083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Dual Wi-Fi + USB Link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Streams over local Wi-Fi (IP: 10.201.146.254:80) or direct USB cable with zero configuration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664207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SMART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How We Stopped False Alarms &amp; Constant Beeping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Distinguishing healthy exercise from genuine emotional distress.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48840"/>
            <a:ext cx="4846320" cy="402336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THE SENSOR FUSION DECISION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t>1. CASE A: Fast Pulse + MOVING (Walking / Stairs)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→ Classification: Healthy Physical Exertion.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→ Action: SILENCE! Do not disturb the user.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→ Mascot: Turns Golden Amber (Active Mode).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t>2. CASE B: Fast Pulse + SITTING STILL (No Motion)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→ Classification: Possible Emotional Stress or Panic.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→ Action: Gentle check-in: 'Are you feeling okay?'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→ Mascot: Turns Caring Amber + offers 4-7-8 breathing.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5780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402336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ANTI-BEEPING PROTECTION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t>• Why Did Buzzers Usually Keep Beeping?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When heart rate rises, it takes several minutes to settle down. A normal loop would beep every single second!</a:t>
            </a:r>
          </a:p>
          <a:p>
            <a:pPr>
              <a:spcBef>
                <a:spcPts val="800"/>
              </a:spcBef>
              <a:defRPr sz="1200" b="1">
                <a:solidFill>
                  <a:srgbClr val="111111"/>
                </a:solidFill>
                <a:latin typeface="Arial"/>
              </a:defRPr>
            </a:pPr>
            <a:r>
              <a:t>• How We Fixed It: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1. Hardware Lockout: Firmware enforces 60s cooldown so buzzer cannot beep repeatedly.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2. Frontend Audio Debounce: Web audio chime enforces a 3-minute cooldown.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3. Non-Alarmist Phrasing: Never says 'You are sick', only offers supportive calm.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98094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Math Behind Personal Normal (Made Simple)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Why personal statistics work better than arbitrary medical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1. Personal Average (μ)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The mathematical center of YOUR quiet resting state.</a:t>
            </a:r>
          </a:p>
          <a:p>
            <a:pPr>
              <a:spcBef>
                <a:spcPts val="800"/>
              </a:spcBef>
              <a:defRPr sz="1250" b="1">
                <a:solidFill>
                  <a:srgbClr val="111111"/>
                </a:solidFill>
                <a:latin typeface="Arial"/>
              </a:defRPr>
            </a:pPr>
            <a:r>
              <a:t>Formula: μ = Average of your resting readings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Continuously updates as your cardiovascular fitness improves or routines 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2. Personal Variance (σ)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Measures how much your pulse naturally swings up and down during calm periods.</a:t>
            </a:r>
          </a:p>
          <a:p>
            <a:pPr>
              <a:spcBef>
                <a:spcPts val="800"/>
              </a:spcBef>
              <a:defRPr sz="1250" b="1">
                <a:solidFill>
                  <a:srgbClr val="111111"/>
                </a:solidFill>
                <a:latin typeface="Arial"/>
              </a:defRPr>
            </a:pPr>
            <a:r>
              <a:t>Individual Baseline Range: ±3 to ±7 BPM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Some people naturally fluctuate by ±3 BPM; others naturally fluctuate by ±7 BPM. Captures individual autonomic nervous tone.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3. Normal Comfort Zone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Your personalized safe zone corridor:</a:t>
            </a:r>
          </a:p>
          <a:p>
            <a:pPr>
              <a:spcBef>
                <a:spcPts val="800"/>
              </a:spcBef>
              <a:defRPr sz="1250" b="1">
                <a:solidFill>
                  <a:srgbClr val="111111"/>
                </a:solidFill>
                <a:latin typeface="Arial"/>
              </a:defRPr>
            </a:pPr>
            <a:r>
              <a:t>Band: [ μ - 2σ , μ + 2σ ]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In statistics, 95.45% of your normal resting readings fall inside this band. Only true anomalies lie outside!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SOFTWARE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FastAPI Local Microservice &amp; Isolation Forest AI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High-speed local processing with zero cloud lag and zero cloud dependencies.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FastAPI Microservice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High-speed local Python server on Port 8000.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Polls the ESP32 sensor pod automatically.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Ultra-low response latency under 5 milliseconds.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Interactive API docs available at /docs.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Isolation Forest AI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Unsupervised Machine Learning via Scikit-Learn.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Learns your normal patterns without manual labeling.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Spots multi-dimensional anomalies (HR + SpO2 + Temp + Motion).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Calibrated dynamically during observation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 Black"/>
              </a:defRPr>
            </a:pPr>
            <a:r>
              <a:t>Local SQLite Database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Embedded local database: backend/awen.db.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Write-Ahead Logging (WAL) enables high concurrency.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Complete patient privacy with PBKDF2 authentication.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100% offline, zero cloud reliance.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React 19, Tailwind &amp; High-Contrast Neo-Brutalism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Designed for maximum clarity, readability, and zero clutter.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React 19 &amp; Vite 6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Built with modern React hooks and lightning-fast Vite bundling. Instant state transitions and zero interface lag.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Neo-Brutalist Visual Design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Thick 2.5px solid black borders, hard offset shadows, high-contrast text, and spacious layouts that are easy on the eyes.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2578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Live 60 FPS Pulse Waveform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Canvas oscilloscope draws your actual arterial pulse wave in real time as your blood 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206240"/>
            <a:ext cx="52578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80060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Driverless Web Serial Connect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Plug in the USB cable and click 'Connect' — communicates directly inside Chrome or Edge with zero driver installs.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88366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LIVING MASCOT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Meet Awen: 5 Simple Colors That Show How You Feel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A living vector mascot that changes color with your body.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29968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30552"/>
            <a:ext cx="1773936" cy="4059936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BALANCED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Green (#32E875)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Resting heart rate inside your normal comfort zone. Gentle breathing animation.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2655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1" y="1965960"/>
            <a:ext cx="2029968" cy="438912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7" y="2130552"/>
            <a:ext cx="1773936" cy="4059936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LEARNING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Lavender (#C084FC)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Observation Mode active (Day 1-3). Learning your daily habits.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8928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4064" y="1965960"/>
            <a:ext cx="2029968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30552"/>
            <a:ext cx="1773936" cy="4059936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ACTIVE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Yellow (#FFD027)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Movement detected. Awen celebrates healthy exercise and walking.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965960"/>
            <a:ext cx="2029968" cy="438912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2130552"/>
            <a:ext cx="1773936" cy="4059936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WATCHFUL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Amber (#F97316)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Resting pulse is high without motion. Awen offers a calm breathing check-in.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2020824"/>
            <a:ext cx="2029968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6608" y="1965960"/>
            <a:ext cx="2029968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2130552"/>
            <a:ext cx="1773936" cy="4059936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WIND DOWN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Indigo (#818CF8)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Evening time (after 21:00). Awen gets sleepy to remind you to 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103120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The 7 Clean Screens in Our Application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Every screen is simple, focused, and free of medical jargon.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4290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1. Today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Live vitals (Heart Rate, SpO2, Temp), mascot stage, 7-day corridor ribbon, and evening check-in.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965960"/>
            <a:ext cx="34290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3055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2. Journey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7-day trend chart showing your custom baseline band and how your body changes over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202082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965960"/>
            <a:ext cx="34290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3055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3. Insights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Simple graphs showing your quiet hours, active hours, and sleep consistency.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34290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4. Talk Screen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Empathetic AI companion you can chat with anytime for stress relief and reflections.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4206240"/>
            <a:ext cx="3429000" cy="2057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37083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5. Hardware Hub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Live ESP32 telemetry inspector, Wi-Fi configuration (10.201.146.254), and USB serial monitor.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4261104"/>
            <a:ext cx="34290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4206240"/>
            <a:ext cx="3429000" cy="205740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370832"/>
            <a:ext cx="3063240" cy="169164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1400" b="1">
                <a:solidFill>
                  <a:srgbClr val="111111"/>
                </a:solidFill>
                <a:latin typeface="Arial Black"/>
              </a:defRPr>
            </a:pPr>
            <a:r>
              <a:t>6. Settings &amp; You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Toggle observation calibration, reset your baseline, and manage your private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88366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100% Private: Your Data Never Leaves Your Computer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Biometric data belongs to the user, not commercial advertisers.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38328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1. 100% Local SQLite Storage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All sensor feeds and check-ins stay on your own laptop.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Zero danger of cloud database hacks or leaks.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You can export or delete your database with one click.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38328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2. Zero Cloud Leakage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No third-party health trackers or advertising beacons.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The ESP32 communicates purely across your local Wi-Fi or USB.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Zero internet connection required to operate.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2020824"/>
            <a:ext cx="338328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383280" cy="438912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3. Safe &amp; Ethical AI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AWEN strictly provides supportive wellness reflections, never unauthorized medical diagnoses.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Calm, reassuring tone prevents medical panic.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980944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Testing Results: Fast, Accurate &amp; Zero False Alarms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Proven through real hardware experiments and physical movement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205740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4800600" cy="173736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t>&lt; 120 ms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Super Fast Latency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From optical sensor sampling on your finger to live screen update over local Wi-Fi.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2057400"/>
          </a:xfrm>
          <a:prstGeom prst="rect">
            <a:avLst/>
          </a:prstGeom>
          <a:solidFill>
            <a:srgbClr val="FEF3C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30552"/>
            <a:ext cx="4800600" cy="173736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t>0%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False Alarms During Exercise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Accelerometer motion gate eliminated 100% of false alarms during stair climbing and walking.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257800" cy="205740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70832"/>
            <a:ext cx="4800600" cy="173736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t>60 FPS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Smooth Vector Mascot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GPU-accelerated vector SVG animations with less than 2% CPU usage.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261104"/>
            <a:ext cx="5257800" cy="205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206240"/>
            <a:ext cx="5257800" cy="2057400"/>
          </a:xfrm>
          <a:prstGeom prst="rect">
            <a:avLst/>
          </a:prstGeom>
          <a:solidFill>
            <a:srgbClr val="F3E8FF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70832"/>
            <a:ext cx="4800600" cy="1737360"/>
          </a:xfrm>
          <a:prstGeom prst="rect">
            <a:avLst/>
          </a:prstGeom>
          <a:noFill/>
        </p:spPr>
        <p:txBody>
          <a:bodyPr wrap="square" tIns="25400" bIns="25400" lIns="25400" rIns="2540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Arial Black"/>
              </a:defRPr>
            </a:pPr>
            <a:r>
              <a:t>99.8%</a:t>
            </a:r>
          </a:p>
          <a:p>
            <a:pPr>
              <a:spcBef>
                <a:spcPts val="200"/>
              </a:spcBef>
              <a:defRPr sz="1350" b="1">
                <a:solidFill>
                  <a:srgbClr val="111111"/>
                </a:solidFill>
                <a:latin typeface="Arial Black"/>
              </a:defRPr>
            </a:pPr>
            <a:r>
              <a:t>Stream Stability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Dual-path fallback (Wi-Fi + USB Serial) guarantees zero data dropouts.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542032" cy="320040"/>
          </a:xfrm>
          <a:prstGeom prst="rect">
            <a:avLst/>
          </a:prstGeom>
          <a:solidFill>
            <a:srgbClr val="FFD027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>
              <a:defRPr sz="1050" b="1">
                <a:solidFill>
                  <a:srgbClr val="111111"/>
                </a:solidFill>
                <a:latin typeface="Arial"/>
              </a:defRPr>
            </a:pPr>
            <a:r>
              <a:t>CONCLUSION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Arial Black"/>
              </a:defRPr>
            </a:pPr>
            <a:r>
              <a:t>Conclusion &amp; Next-Generation Roadmap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A verified capstone project setting a new standard for empathetic health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57800" cy="438912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4800600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What Has Been Delivered &amp; Verified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✔ Working ESP32 Sensor Pod with MAX30102, MPU-6050, LM35 &amp; OLED.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✔ Dual-Path Streaming: Local Wi-Fi (10.201.146.254) + Web Serial USB.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✔ Motion-aware Exertion Filter &amp; 60s buzzer cooldown.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✔ Dynamic Personal Baseline Corridor (μ ± 2σ) statistical calculation.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✔ React 19 Frontend with 5-State Living Mascot &amp; 7-Screen Ecosystem.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020824"/>
            <a:ext cx="5257800" cy="4389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257800" cy="438912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67128"/>
            <a:ext cx="4800600" cy="3986784"/>
          </a:xfrm>
          <a:prstGeom prst="rect">
            <a:avLst/>
          </a:prstGeom>
          <a:noFill/>
        </p:spPr>
        <p:txBody>
          <a:bodyPr wrap="square" tIns="50800" bIns="50800" lIns="50800" rIns="50800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Arial Black"/>
              </a:defRPr>
            </a:pPr>
            <a:r>
              <a:t>Future Commercial &amp; Research Roadmap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• Smart Ring Form Factor: Miniaturized multi-layer flex PCB.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• Bluetooth Low Energy (BLE 5.0): Low-power wireless sync.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• TinyML On-Device Models: Running TensorFlow Lite micro-models on chip.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• Sleep Stage Tracking: Measuring autonomic recovery and RMSSD HRV overnight.</a:t>
            </a:r>
          </a:p>
          <a:p>
            <a:pPr>
              <a:spcBef>
                <a:spcPts val="500"/>
              </a:spcBef>
              <a:defRPr sz="1120">
                <a:solidFill>
                  <a:srgbClr val="1E293B"/>
                </a:solidFill>
                <a:latin typeface="Arial"/>
              </a:defRPr>
            </a:pPr>
            <a:r>
              <a:t>• University Campus Pilot: Helping students manage exam stress.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