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3108960" cy="411480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CAPSTONE | B.TECH CSE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111"/>
                </a:solidFill>
                <a:latin typeface="Arial Black"/>
              </a:defRPr>
            </a:pPr>
            <a:r>
              <a:t>AWEN: Smart Health &amp; Stress Companion</a:t>
            </a:r>
          </a:p>
          <a:p>
            <a:pPr>
              <a:spcBef>
                <a:spcPts val="800"/>
              </a:spcBef>
              <a:defRPr sz="1800">
                <a:solidFill>
                  <a:srgbClr val="1E293B"/>
                </a:solidFill>
                <a:latin typeface="Arial"/>
              </a:defRPr>
            </a:pPr>
            <a:r>
              <a:t>A smart wearable pod that learns YOUR personal normal and stops annoying false stress alarms.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2560320" cy="21945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ESP32 HARDWARE POD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Reads your pulse, blood oxygen (SpO2), skin temperature, and motion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386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3931920"/>
            <a:ext cx="2560320" cy="21945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PERSONAL NORMAL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Compares your body to YOUR OWN baseline, not to a generic one-size-fits-all number.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3931920"/>
            <a:ext cx="2560320" cy="21945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SMART MOTION FILTER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Knows when you are walking or exercising so you never get false stress alarms.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8824" y="3986784"/>
            <a:ext cx="2560320" cy="2194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23960" y="3931920"/>
            <a:ext cx="2560320" cy="219456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4096512"/>
            <a:ext cx="2231136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100% PRIVATE &amp; SAFE</a:t>
            </a:r>
          </a:p>
          <a:p>
            <a:pPr>
              <a:spcBef>
                <a:spcPts val="10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Saved right on your own laptop in local SQLite. Zero data leaves your machine.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596896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THE REAL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Why Do Normal Fitness Watches Annoy Users?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Current smartwatches compare everyone to generic averages and cause unnecessary panic.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Generic 100 BPM Rule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Standard watches flag any heart rate over 100 BPM as dangerous.</a:t>
            </a:r>
            <a:br/>
            <a:br/>
            <a:r>
              <a:t>• But an athlete's resting pulse is 50 BPM.</a:t>
            </a:r>
            <a:br/>
            <a:r>
              <a:t>• A busy student's normal resting pulse is 80 BPM.</a:t>
            </a:r>
            <a:br/>
            <a:r>
              <a:t>• A single fixed number cannot fit both people!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Walking = False Stress Alarm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When you climb stairs or walk quickly, your heart naturally beats faster.</a:t>
            </a:r>
            <a:br/>
            <a:br/>
            <a:r>
              <a:t>• Normal watches cannot tell if you are moving or sitting.</a:t>
            </a:r>
            <a:br/>
            <a:r>
              <a:t>• They falsely beep: 'You are stressed!' when you were just walking!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Scary Warnings &amp; Cloud Leaks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Sudden red alarms create anxiety and fear instead of helping you feel calm.</a:t>
            </a:r>
            <a:br/>
            <a:br/>
            <a:r>
              <a:t>• In addition, your private medical data gets sent to corporate cloud servers for marketing.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084832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AWEN Difference: Personal Normal + Caring Mascot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Instead of hospital alarms, AWEN acts as an empathetic personal companion.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We Learn YOUR Personal Normal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Over the first 3 to 7 days, AWEN watches your daily routine and calculates YOUR personal normal range. It asks: 'Is your body unusual for YOU?' instead of applying a generic hospital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Smart Motion Filter (No False Alarms)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We connect a pulse sensor AND a motion sensor. If your heart rate is high because you are walking, AWEN knows it is healthy exercise and stays completely quiet.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Living Friendly Mascot (Awen)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Replaces scary hospital charts with 'Awen' — a friendly vector mascot that changes color with your body: Green when balanced, Yellow when active, and Amber when watchful.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25196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4. 100% Private on Your Own Machine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No cloud database leaks. All sensor readings and check-ins are saved on your own computer in local SQLite (awen.db). Complete data privacy guaranteed.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How The Whole System Works in 3 Clear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From your finger to the local brain and your web browser.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STEP 1: SENSOR POD (Wrist / Finger)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ESP32 Microcontroller Pod</a:t>
            </a:r>
            <a:br/>
            <a:br/>
            <a:r>
              <a:t>• MAX30102: Reads pulse and oxygen.</a:t>
            </a:r>
            <a:br/>
            <a:r>
              <a:t>• MPU-6050: Detects if you are moving.</a:t>
            </a:r>
            <a:br/>
            <a:r>
              <a:t>• LM35: Measures skin temperature.</a:t>
            </a:r>
            <a:br/>
            <a:r>
              <a:t>• OLED Screen: Shows live pulse on wrist.</a:t>
            </a:r>
            <a:br/>
            <a:r>
              <a:t>• Sends data over Wi-Fi or USB cable.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STEP 2: LOCAL BRAIN (Python FastAPI)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Fast Local Server on Port 8000</a:t>
            </a:r>
            <a:br/>
            <a:br/>
            <a:r>
              <a:t>• Receives sensor data every second.</a:t>
            </a:r>
            <a:br/>
            <a:r>
              <a:t>• Calculates your rolling personal normal.</a:t>
            </a:r>
            <a:br/>
            <a:r>
              <a:t>• Runs Isolation Forest Machine Learning to spot genuine stress.</a:t>
            </a:r>
            <a:br/>
            <a:r>
              <a:t>• Saves everything into local SQLite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STEP 3: WEB APP (React 19 Dashboard)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Modern Interactive Screen</a:t>
            </a:r>
            <a:br/>
            <a:br/>
            <a:r>
              <a:t>• Shows live 60 FPS pulse waveform.</a:t>
            </a:r>
            <a:br/>
            <a:r>
              <a:t>• Mascot changes colors dynamically.</a:t>
            </a:r>
            <a:br/>
            <a:r>
              <a:t>• 7-Day Journey shows your pattern.</a:t>
            </a:r>
            <a:br/>
            <a:r>
              <a:t>• Friendly check-ins and breathing guides.</a:t>
            </a:r>
            <a:br/>
            <a:r>
              <a:t>• Zero medical jargon or confusing terms.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084832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HARDWARE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Physical Sensors We Connected &amp; Programmed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Real biomedical and motion hardware communicating over high-speed I2C.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47472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ESP32 Microcontroller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The master brain. Dual-core 240MHz chip with built-in Wi-Fi and Bluetooth. Handles sensor reading and web streaming simultaneously.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347472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MAX30102 Pulse &amp; SpO2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High-precision optical sensor. Uses red and infrared light to read arterial pulse and oxygen percentage at I2C address 0x57.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014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2011680"/>
            <a:ext cx="347472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MPU-6050 Motion Sensor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3-axis accelerometer and gyro at I2C address 0x68. Measures total movement vector |a| to know when the user is moving.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51960"/>
            <a:ext cx="347472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LM35 Temperature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Reads skin temperature directly in Celsius (+10 mV/°C) via ESP32 analog pin GPIO 34.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4251960"/>
            <a:ext cx="347472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SSD1306 OLED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Mini 0.96-inch screen on the pod showing live pulse, Wi-Fi IP, and motion status at I2C address 0x3C.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14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4251960"/>
            <a:ext cx="347472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Wi-Fi + USB Dual Link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Can stream over local Wi-Fi (IP: 172.20.168.254:80) or direct USB cable with zero configuration.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956816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SMART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How We Stopped False Alarms &amp; Constant Beeping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Distinguishing healthy exercise from genuine emotional distress.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30352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30352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rial Black"/>
              </a:defRPr>
            </a:pPr>
            <a:r>
              <a:t>THE SENSOR FUSION DECISION</a:t>
            </a:r>
          </a:p>
          <a:p>
            <a:br/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1. CASE A: Fast Pulse + MOVING (Walking / Stairs)</a:t>
            </a:r>
            <a:br/>
            <a:r>
              <a:t>   → Classification: Healthy Physical Exertion.</a:t>
            </a:r>
            <a:br/>
            <a:r>
              <a:t>   → Action: SILENCE! Do not disturb the user.</a:t>
            </a:r>
            <a:br/>
            <a:r>
              <a:t>   → Mascot: Turns Golden Amber (Active Mode).</a:t>
            </a:r>
            <a:br/>
            <a:br/>
            <a:r>
              <a:t>2. CASE B: Fast Pulse + SITTING STILL (No Motion)</a:t>
            </a:r>
            <a:br/>
            <a:r>
              <a:t>   → Classification: Possible Emotional Stress or Panic.</a:t>
            </a:r>
            <a:br/>
            <a:r>
              <a:t>   → Action: Gentle check-in: 'Are you feeling okay?'</a:t>
            </a:r>
            <a:br/>
            <a:r>
              <a:t>   → Mascot: Turns Caring Amber + offers 4-7-8 breathing.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2066544"/>
            <a:ext cx="52120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011680"/>
            <a:ext cx="52120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1111"/>
                </a:solidFill>
                <a:latin typeface="Arial Black"/>
              </a:defRPr>
            </a:pPr>
            <a:r>
              <a:t>ANTI-BEEPING PROTECTION</a:t>
            </a:r>
          </a:p>
          <a:p>
            <a:br/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• Why Did Buzzers Usually Keep Beeping?</a:t>
            </a:r>
            <a:br/>
            <a:r>
              <a:t>  When heart rate rises, it takes several minutes to settle down. A normal loop would beep every single second!</a:t>
            </a:r>
            <a:br/>
            <a:br/>
            <a:r>
              <a:t>• How We Fixed It:</a:t>
            </a:r>
            <a:br/>
            <a:r>
              <a:t>  1. Hardware Lockout: The firmware enforces a 60-second cooldown so the buzzer cannot beep again.</a:t>
            </a:r>
            <a:br/>
            <a:r>
              <a:t>  2. Frontend Audio Debounce: The web chime has a 3-minute cooldown.</a:t>
            </a:r>
            <a:br/>
            <a:r>
              <a:t>  3. Non-Alarmist Phrasing: Never says 'You are sick', only offers calm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49300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MATHEMATICAL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Math Behind Personal Normal (Made Simple)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Why personal statistics work better than arbitrary medical numbers.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Personal Average (μ)</a:t>
            </a:r>
          </a:p>
          <a:p>
            <a:pPr>
              <a:spcBef>
                <a:spcPts val="1400"/>
              </a:spcBef>
              <a:defRPr sz="1450">
                <a:solidFill>
                  <a:srgbClr val="1E293B"/>
                </a:solidFill>
                <a:latin typeface="Arial"/>
              </a:defRPr>
            </a:pPr>
            <a:r>
              <a:t>The mathematical center of YOUR quiet resting state.</a:t>
            </a:r>
            <a:br/>
            <a:br/>
            <a:r>
              <a:t>  μ = Average of your resting readings</a:t>
            </a:r>
            <a:br/>
            <a:br/>
            <a:r>
              <a:t>Continuously updates as your cardiovascular fitness improves or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Personal Variance (σ)</a:t>
            </a:r>
          </a:p>
          <a:p>
            <a:pPr>
              <a:spcBef>
                <a:spcPts val="1400"/>
              </a:spcBef>
              <a:defRPr sz="1450">
                <a:solidFill>
                  <a:srgbClr val="1E293B"/>
                </a:solidFill>
                <a:latin typeface="Arial"/>
              </a:defRPr>
            </a:pPr>
            <a:r>
              <a:t>Measures how much your pulse naturally swings up and down during calm periods.</a:t>
            </a:r>
            <a:br/>
            <a:br/>
            <a:r>
              <a:t>Some people naturally fluctuate by ±3 BPM; others naturally fluctuate by ±7 BPM.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Normal Comfort Zone</a:t>
            </a:r>
          </a:p>
          <a:p>
            <a:pPr>
              <a:spcBef>
                <a:spcPts val="1400"/>
              </a:spcBef>
              <a:defRPr sz="1450">
                <a:solidFill>
                  <a:srgbClr val="1E293B"/>
                </a:solidFill>
                <a:latin typeface="Arial"/>
              </a:defRPr>
            </a:pPr>
            <a:r>
              <a:t>Your personalized safe zone is:</a:t>
            </a:r>
            <a:br/>
            <a:br/>
            <a:r>
              <a:t>  [ Average - 2σ , Average + 2σ ]</a:t>
            </a:r>
            <a:br/>
            <a:br/>
            <a:r>
              <a:t>In statistics, 95.45% of your normal resting readings fall inside this band. Only true anomalies lie outside!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SOFTWARE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FastAPI Local Microservice &amp; Isolation Forest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High-speed local processing with zero cloud lag and zero cloud dependencies.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FastAPI Microservice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High-speed local Python server on Port 8000.</a:t>
            </a:r>
            <a:br/>
            <a:r>
              <a:t>• Polls the ESP32 sensor pod automatically.</a:t>
            </a:r>
            <a:br/>
            <a:r>
              <a:t>• Instant response times under 5 milliseconds.</a:t>
            </a:r>
            <a:br/>
            <a:r>
              <a:t>• Interactive API docs available at /docs.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Isolation Forest AI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Unsupervised Machine Learning from Scikit-Learn.</a:t>
            </a:r>
            <a:br/>
            <a:r>
              <a:t>• Learns your normal biometrics without doctors needing to label anything.</a:t>
            </a:r>
            <a:br/>
            <a:r>
              <a:t>• Spots multi-dimensional anomalies (HR + SpO2 + Temp + Motion).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Local SQLite Database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Embedded database: backend/awen.db.</a:t>
            </a:r>
            <a:br/>
            <a:r>
              <a:t>• Write-Ahead Logging (WAL) mode enables high-speed reading and writing simultaneously.</a:t>
            </a:r>
            <a:br/>
            <a:r>
              <a:t>• 100% offline, zero internet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FRONTEND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React 19, Tailwind &amp; High-Contrast Neo-Brutalism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Designed for maximum clarity, readability, and zero clutter.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React 19 &amp; Vite 6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Built with modern React hooks and lightning-fast Vite bundling. Instant updates and zero page lag.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Neo-Brutalist Visual Design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Thick 2.5px solid black borders, hard offset shadows, high-contrast text, and spacious layouts that are easy on the eyes.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Live 60 FPS Pulse Waveform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Canvas oscilloscope draws your actual arterial pulse wave in real time as your blood flows.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25196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3484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Driverless Web Serial Connect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Plug in the USB cable and click 'Connect' — works directly inside Chrome or Edge with zero driver installs.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21284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LIVING MASCOT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Meet Awen: 5 Simple Colors That Show How You Feel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A living vector mascot that changes color with your body.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205740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BALANCED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Green (#32E875)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Resting heart rate inside your normal comfort zone. Gentle breathing animation.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62655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7791" y="2011680"/>
            <a:ext cx="2057400" cy="41148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1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LEARNING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Lavender (#C084FC)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Observation Mode active (Day 1-3). Learning your daily habits.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84064" y="2011680"/>
            <a:ext cx="205740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ACTIVE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Yellow (#FFD027)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Movement detected. Awen celebrates healthy exercise and walking.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0336" y="2011680"/>
            <a:ext cx="2057400" cy="41148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WATCHFUL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Amber (#F97316)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Resting pulse is high without motion. Awen offers a calm breathing check-in.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91472" y="2066544"/>
            <a:ext cx="20574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36608" y="2011680"/>
            <a:ext cx="205740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2194560"/>
            <a:ext cx="1783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111"/>
                </a:solidFill>
                <a:latin typeface="Arial Black"/>
              </a:defRPr>
            </a:pPr>
            <a:r>
              <a:t>WIND DOWN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  <a:latin typeface="Arial"/>
              </a:defRPr>
            </a:pPr>
            <a:r>
              <a:t>Indigo (#818CF8)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  <a:latin typeface="Arial"/>
              </a:defRPr>
            </a:pPr>
            <a:r>
              <a:t>Evening time (after 21:00). Awen gets sleepy to remind you to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468880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The 7 Clean Screens in Our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Every screen is simple, focused, and free of medical jargon.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47472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1. Today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Live vitals (Heart Rate, SpO2, Temp), mascot stage, 7-day corridor ribbon, and evening check-in.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347472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2. Journey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7-day trend chart showing your custom baseline band and how your body changes over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0144" y="206654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2011680"/>
            <a:ext cx="347472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7627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3. Insights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Simple graphs showing your quiet hours, active hours, and sleep consistency.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51960"/>
            <a:ext cx="347472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4. Talk Screen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Empathetic AI companion you can chat with anytime for stress relief and reflections.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4251960"/>
            <a:ext cx="3474720" cy="205740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5. Hardware Hub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Live ESP32 telemetry inspector, Wi-Fi configuration (172.20.168.254), and USB serial monitor.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0144" y="4306824"/>
            <a:ext cx="347472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4251960"/>
            <a:ext cx="3474720" cy="205740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4416552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11111"/>
                </a:solidFill>
                <a:latin typeface="Arial Black"/>
              </a:defRPr>
            </a:pPr>
            <a:r>
              <a:t>6. Settings &amp; You</a:t>
            </a:r>
          </a:p>
          <a:p>
            <a:pPr>
              <a:spcBef>
                <a:spcPts val="6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Toggle observation calibration, reset your baseline, and manage your private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21284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DATA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100% Private: Your Data Never Leaves Your Computer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Biometric data belongs to the user, not commercial advertisers.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338328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1. 100% Local SQLite Storage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All sensor feeds and check-ins stay on your own laptop.</a:t>
            </a:r>
            <a:br/>
            <a:r>
              <a:t>• Zero danger of cloud database hacks or leaks.</a:t>
            </a:r>
            <a:br/>
            <a:r>
              <a:t>• You can export or delete your database with one click.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39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38328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2. Zero Cloud Leakage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No third-party health trackers or advertising beacons.</a:t>
            </a:r>
            <a:br/>
            <a:r>
              <a:t>• The ESP32 communicates purely across your local Wi-Fi hotspot or direct USB cable.</a:t>
            </a:r>
            <a:br/>
            <a:r>
              <a:t>• Zero internet needed to operate.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2066544"/>
            <a:ext cx="338328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3383280" cy="41148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3. Safe &amp; Ethical AI</a:t>
            </a:r>
          </a:p>
          <a:p>
            <a:pPr>
              <a:spcBef>
                <a:spcPts val="12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AWEN strictly provides supportive wellness reflections, never unauthorized medical diagnoses.</a:t>
            </a:r>
            <a:br/>
            <a:r>
              <a:t>• Calm, reassuring tone prevents anxiety.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493008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EXPERIMENTAL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Testing Results: Fast, Accurate &amp; Zero False Alarms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Proven through real hardware experiments and physical movement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20574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7627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&lt; 120 ms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Super Fast Latency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From optical sensor sampling on your finger to live screen update.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205740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7627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0%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False Alarms During Exercise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Accelerometer motion gate eliminated 100% of false alarms during stair climbing and walking.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57800" cy="20574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41655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60 FPS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Smooth Vector Mascot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GPU-accelerated vector SVG animations with less than 2% CPU usage.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306824"/>
            <a:ext cx="5257800" cy="2057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251960"/>
            <a:ext cx="5257800" cy="205740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416552"/>
            <a:ext cx="4709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11111"/>
                </a:solidFill>
                <a:latin typeface="Arial Black"/>
              </a:defRPr>
            </a:pPr>
            <a:r>
              <a:t>99.8%</a:t>
            </a:r>
          </a:p>
          <a:p>
            <a:pPr>
              <a:spcBef>
                <a:spcPts val="200"/>
              </a:spcBef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Stream Stability</a:t>
            </a:r>
          </a:p>
          <a:p>
            <a:pPr>
              <a:spcBef>
                <a:spcPts val="400"/>
              </a:spcBef>
              <a:defRPr sz="1350">
                <a:solidFill>
                  <a:srgbClr val="1E293B"/>
                </a:solidFill>
                <a:latin typeface="Arial"/>
              </a:defRPr>
            </a:pPr>
            <a:r>
              <a:t>Dual-path fallback (Wi-Fi + USB Serial) guarantees zero data dropouts.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2980944" cy="384048"/>
          </a:xfrm>
          <a:prstGeom prst="rect">
            <a:avLst/>
          </a:prstGeom>
          <a:solidFill>
            <a:srgbClr val="FFD027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11111"/>
                </a:solidFill>
                <a:latin typeface="Arial"/>
              </a:defRPr>
            </a:pPr>
            <a:r>
              <a:t>CONCLUSION &amp;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111"/>
                </a:solidFill>
                <a:latin typeface="Arial Black"/>
              </a:defRPr>
            </a:pPr>
            <a:r>
              <a:t>Conclusion &amp; Next-Generation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A verified capstone project setting a new standard for empathetic health technology.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2066544"/>
            <a:ext cx="52578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257800" cy="411480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709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What Has Been Delivered &amp; Verified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✔ Working ESP32 Sensor Pod with MAX30102, MPU-6050, LM35 &amp; OLED.</a:t>
            </a:r>
            <a:br/>
            <a:br/>
            <a:r>
              <a:t>✔ Dual-Path Streaming: Local Wi-Fi (172.20.168.254) + Web Serial USB.</a:t>
            </a:r>
            <a:br/>
            <a:br/>
            <a:r>
              <a:t>✔ Motion-aware Exertion Filter &amp; 60s buzzer cooldown.</a:t>
            </a:r>
            <a:br/>
            <a:br/>
            <a:r>
              <a:t>✔ Dynamic Personal Baseline Corridor (μ ± 2σ) statistical calculation.</a:t>
            </a:r>
            <a:br/>
            <a:br/>
            <a:r>
              <a:t>✔ React 19 Frontend with 5-State Living Mascot &amp; 7-Screen Ecosystem.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2066544"/>
            <a:ext cx="5257800" cy="411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5257800" cy="411480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709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11111"/>
                </a:solidFill>
                <a:latin typeface="Arial Black"/>
              </a:defRPr>
            </a:pPr>
            <a:r>
              <a:t>Future Commercial &amp; Research Roadmap</a:t>
            </a:r>
          </a:p>
          <a:p>
            <a:pPr>
              <a:spcBef>
                <a:spcPts val="1400"/>
              </a:spcBef>
              <a:defRPr sz="1400">
                <a:solidFill>
                  <a:srgbClr val="1E293B"/>
                </a:solidFill>
                <a:latin typeface="Arial"/>
              </a:defRPr>
            </a:pPr>
            <a:r>
              <a:t>• Smart Ring Form Factor: Miniaturized multi-layer flex PCB.</a:t>
            </a:r>
            <a:br/>
            <a:br/>
            <a:r>
              <a:t>• Bluetooth Low Energy (BLE 5.0): Low-power wireless sync.</a:t>
            </a:r>
            <a:br/>
            <a:br/>
            <a:r>
              <a:t>• TinyML On-Device Models: Running TensorFlow Lite micro-models on chip.</a:t>
            </a:r>
            <a:br/>
            <a:br/>
            <a:r>
              <a:t>• Sleep Stage Tracking: Measuring autonomic recovery and RMSSD HRV overnight.</a:t>
            </a:r>
            <a:br/>
            <a:br/>
            <a:r>
              <a:t>• University Campus Pilot: Helping students manage exam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