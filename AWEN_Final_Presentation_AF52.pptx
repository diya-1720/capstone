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solidFill>
              <a:srgbClr val="080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91440" cy="3474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2D3EE"/>
                </a:solidFill>
                <a:latin typeface="Segoe UI"/>
              </a:defRPr>
            </a:pPr>
            <a:r>
              <a:t>CAPSTONE PROJECT PRESENTATION | B.TECH CSE</a:t>
            </a:r>
          </a:p>
          <a:p>
            <a:pPr>
              <a:spcBef>
                <a:spcPts val="800"/>
              </a:spcBef>
              <a:defRPr sz="3400" b="1">
                <a:solidFill>
                  <a:srgbClr val="F8FAFC"/>
                </a:solidFill>
                <a:latin typeface="Segoe UI"/>
              </a:defRPr>
            </a:pPr>
            <a:r>
              <a:t>AWEN: Adaptive Wellness &amp; Emotional Navigation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  <a:latin typeface="Segoe UI"/>
              </a:defRPr>
            </a:pPr>
            <a:r>
              <a:t>A Baseline-Calibrated Edge IoT &amp; Conversational AI System for Autonomous Stress Detection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297680"/>
            <a:ext cx="2423160" cy="1645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4434840"/>
            <a:ext cx="2148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Segoe UI"/>
              </a:defRPr>
            </a:pPr>
            <a:r>
              <a:t>ESP32 IoT POD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Dual Wi-Fi REST + Web Serial (MAX30102, MPU6050, LM35)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4297680"/>
            <a:ext cx="2423160" cy="1645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4434840"/>
            <a:ext cx="2148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Segoe UI"/>
              </a:defRPr>
            </a:pPr>
            <a:r>
              <a:t>PERSONAL BASELINE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Rolling (μ ± 2σ) statistical corridor rejecting generic thresholds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4297680"/>
            <a:ext cx="2423160" cy="1645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4434840"/>
            <a:ext cx="2148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18CF8"/>
                </a:solidFill>
                <a:latin typeface="Segoe UI"/>
              </a:defRPr>
            </a:pPr>
            <a:r>
              <a:t>LIVING MASCOT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5-state reactive vector aura with 7-window time awareness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5400" y="4297680"/>
            <a:ext cx="2423160" cy="1645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0" y="4434840"/>
            <a:ext cx="2148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Segoe UI"/>
              </a:defRPr>
            </a:pPr>
            <a:r>
              <a:t>OFFLINE PRIVACY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100% Local SQLite &amp; Edge Processing (Zero Cloud Leakage)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solidFill>
              <a:srgbClr val="080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  <a:latin typeface="Segoe UI"/>
              </a:defRPr>
            </a:pPr>
            <a:r>
              <a:t>CONTEXT &amp;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The Fatal Flaws in Existing Wearable Health 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Commercial trackers cause user anxiety through false positives and medical jargon.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2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F4444"/>
                </a:solidFill>
                <a:latin typeface="Segoe UI"/>
              </a:defRPr>
            </a:pPr>
            <a:r>
              <a:t>1. Generic Medical Thresholds</a:t>
            </a:r>
          </a:p>
          <a:p>
            <a:pPr>
              <a:spcBef>
                <a:spcPts val="12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Standard smartwatches flag any Heart Rate &gt; 100 BPM as 'Abnormal Tachycardia'.</a:t>
            </a:r>
            <a:br/>
            <a:br/>
            <a:r>
              <a:t>• Completely ignores individual resting physiology (an athlete's normal resting HR is 50 BPM; an anxiety sufferer's baseline is 82 BPM).</a:t>
            </a:r>
            <a:br/>
            <a:r>
              <a:t>• Flawed one-size-fits-all static cutoffs.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87452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  <a:latin typeface="Segoe UI"/>
              </a:defRPr>
            </a:pPr>
            <a:r>
              <a:t>2. False Stress Alarms (Exertion Blindness)</a:t>
            </a:r>
          </a:p>
          <a:p>
            <a:pPr>
              <a:spcBef>
                <a:spcPts val="12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Heart rate naturally surges during stairs, brisk walking, or exercise.</a:t>
            </a:r>
            <a:br/>
            <a:br/>
            <a:r>
              <a:t>• Conventional trackers cannot correlate heart rate with physical kinetic motion.</a:t>
            </a:r>
            <a:br/>
            <a:r>
              <a:t>• Results in constant, annoying false stress warnings while walking or working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87452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3. Alert Fatigue &amp; Invasive Cloud Privacy</a:t>
            </a:r>
          </a:p>
          <a:p>
            <a:pPr>
              <a:spcBef>
                <a:spcPts val="12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Users are bombarded with alarmist red banners, creating health hypochondria.</a:t>
            </a:r>
            <a:br/>
            <a:br/>
            <a:r>
              <a:t>• Furthermore, personal biometrics (heart rate, SpO2) are shipped to third-party commercial cloud servers, raising grave data privacy issues.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solidFill>
              <a:srgbClr val="080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  <a:latin typeface="Segoe UI"/>
              </a:defRPr>
            </a:pPr>
            <a:r>
              <a:t>CORE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The AWEN Paradigm Shift: Personal Baseline &amp; Emotional Companion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From clinical surveillance to autonomous, baseline-calibrated empathetic guidance.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5780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Personal Physiological Baseline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Instead of asking 'Is HR &gt; 100?', AWEN computes 'Is today's biometrics deviating from YOUR established historical corridor (μ ± 2σ)?' Calibrated over a 3-7 day observation window.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45920"/>
            <a:ext cx="525780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2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Motion-Aware Exertion Gate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AWEN fuses photoplethysmography (MAX30102) with 3-axis kinetic acceleration (MPU6050). High HR + High Motion = Natural Exertion (Suppressed). High HR + Zero Motion = Mental Stress.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525780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39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18CF8"/>
                </a:solidFill>
                <a:latin typeface="Segoe UI"/>
              </a:defRPr>
            </a:pPr>
            <a:r>
              <a:t>Living Mascot Companion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Replaces cold graphs with 'Awen' — a living 60 FPS vector mascot. Changes aura across 5 states, blinks organically, waves, and speaks calm natural reflections without medical jargon.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977639"/>
            <a:ext cx="525780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206239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Segoe UI"/>
              </a:defRPr>
            </a:pPr>
            <a:r>
              <a:t>Strict Data Sovereignty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Biometrics stay 100% on the local edge machine. Telemetry flows via local Wi-Fi or Web Serial into a local SQLite database. No mandatory cloud dependencies or third-party tracking.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solidFill>
              <a:srgbClr val="080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  <a:latin typeface="Segoe UI"/>
              </a:defRPr>
            </a:pPr>
            <a:r>
              <a:t>SYSTEM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End-to-End 3-Tier Edge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Seamless real-time pipeline bridging physical sensors, local microservices, and modern web UI.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20"/>
            <a:ext cx="2834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TIER 1: PHYSICAL EDGE POD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ESP32 Microcontroller (Dual-Core 240MHz)</a:t>
            </a:r>
            <a:br/>
            <a:r>
              <a:t>• MAX30102 PPG Optical Sensor (Heart Rate &amp; SpO2)</a:t>
            </a:r>
            <a:br/>
            <a:r>
              <a:t>• MPU-6050 6-DOF IMU (Accelerometer &amp; Motion Vector)</a:t>
            </a:r>
            <a:br/>
            <a:r>
              <a:t>• LM35 Precision Analog Temperature Sensor</a:t>
            </a:r>
            <a:br/>
            <a:r>
              <a:t>• 0.96" SSD1306 OLED Display (Local telemetry)</a:t>
            </a:r>
            <a:br/>
            <a:r>
              <a:t>• Active Piezo Buzzer (Hardware acoustic alert)</a:t>
            </a:r>
            <a:br/>
            <a:r>
              <a:t>• Wi-Fi AP/Client (IP: 172.20.168.254:80) + Web Serial (115200 baud)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874520"/>
            <a:ext cx="2834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TIER 2: LOCAL BACKEND &amp; ML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Python 3.12 FastAPI Asynchronous Microservice</a:t>
            </a:r>
            <a:br/>
            <a:r>
              <a:t>• Telemetry Poller &amp; Real-Time Ingestion Loop</a:t>
            </a:r>
            <a:br/>
            <a:r>
              <a:t>• Baseline Engine: Computes Rolling Mean (μ) and Std Dev (σ)</a:t>
            </a:r>
            <a:br/>
            <a:r>
              <a:t>• Multi-Modal Stress Detection with Exertion Filtering</a:t>
            </a:r>
            <a:br/>
            <a:r>
              <a:t>• Isolation Forest / Local Anomaly Scoring</a:t>
            </a:r>
            <a:br/>
            <a:r>
              <a:t>• Local SQLite Database (`awen.db`) with WAL Mode</a:t>
            </a:r>
            <a:br/>
            <a:r>
              <a:t>• Zero-Cloud Edge Server (`http://localhost:8000`)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874520"/>
            <a:ext cx="2834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18CF8"/>
                </a:solidFill>
                <a:latin typeface="Segoe UI"/>
              </a:defRPr>
            </a:pPr>
            <a:r>
              <a:t>TIER 3: INTERACTIVE WEB CLIENT</a:t>
            </a:r>
          </a:p>
          <a:p>
            <a:pPr>
              <a:spcBef>
                <a:spcPts val="10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React 19 + Vite 6 + Tailwind CSS</a:t>
            </a:r>
            <a:br/>
            <a:r>
              <a:t>• Dual-Path Telemetry Ingestion (Wi-Fi REST + Web Serial)</a:t>
            </a:r>
            <a:br/>
            <a:r>
              <a:t>• 60 FPS SVG Living Mascot (Dynamic Aura &amp; Expressions)</a:t>
            </a:r>
            <a:br/>
            <a:r>
              <a:t>• 7-Window Time-Aware Personality Speech Engine</a:t>
            </a:r>
            <a:br/>
            <a:r>
              <a:t>• 7 Complete Screens: Today, Journey, Insights, Talk, etc.</a:t>
            </a:r>
            <a:br/>
            <a:r>
              <a:t>• Debounced Anomaly Modal (3-min audio cooldown)</a:t>
            </a:r>
            <a:br/>
            <a:r>
              <a:t>• Complete Local Storage &amp; State Management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solidFill>
              <a:srgbClr val="080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  <a:latin typeface="Segoe UI"/>
              </a:defRPr>
            </a:pPr>
            <a:r>
              <a:t>EMBEDDED IOT 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Hardware Specification &amp; Circuit Interfacing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Compact, low-latency biomedical sensor pod communicating over high-speed I2C and Wi-Fi.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ESP32-WROOM-32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Tensilica Xtensa Dual-Core 32-bit LX6 @ 240 MHz. Integrated 802.11 b/g/n Wi-Fi and Bluetooth v4.2 BR/EDR and BLE. Dedicated FreeRTOS tasks for sampling and networking.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MAX30102 PPG Sensor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High-sensitivity pulse oximeter &amp; heart rate sensor with red (660nm) and infrared (880nm) LEDs. I2C address 0x57. Features ambient light cancellation and digital filtering.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Segoe UI"/>
              </a:defRPr>
            </a:pPr>
            <a:r>
              <a:t>MPU-6050 6-Axis IMU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Triple-axis MEMS accelerometer and gyroscope. I2C address 0x68. Computes total kinematic acceleration vector magnitude |a| to distinguish active movement from resting state.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347472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160519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18CF8"/>
                </a:solidFill>
                <a:latin typeface="Segoe UI"/>
              </a:defRPr>
            </a:pPr>
            <a:r>
              <a:t>LM35 Precision Temp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Analog semiconductor temperature sensor calibrated directly in Celsius (+10.0 mV/°C linear scale). Read via ESP32 ADC1 (GPIO 34) with multi-sample averaging.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977639"/>
            <a:ext cx="347472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160519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2D3EE"/>
                </a:solidFill>
                <a:latin typeface="Segoe UI"/>
              </a:defRPr>
            </a:pPr>
            <a:r>
              <a:t>SSD1306 0.96" OLED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128x64 monochrome graphic display over I2C (address 0x3C). Provides instant edge readouts: Heart Rate, SpO2, Temperature, Wi-Fi IP, and Motion indicator.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977639"/>
            <a:ext cx="347472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4160519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Dual Ingestion Channels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Channel A: Wi-Fi HTTP REST Server (`GET /telemetry`) running on IP 172.20.168.254:80.</a:t>
            </a:r>
            <a:br/>
            <a:r>
              <a:t>Channel B: W3C Web Serial API directly reading JSON frames over USB UART at 115,200 baud.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solidFill>
              <a:srgbClr val="080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  <a:latin typeface="Segoe UI"/>
              </a:defRPr>
            </a:pPr>
            <a:r>
              <a:t>INTELLIGENT EDGE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Multi-Modal Sensor Fusion &amp; Motion-Aware Exertion Filter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Preventing alert fatigue by distinguishing genuine psychological distress from physical exercise.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30352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2D3EE"/>
                </a:solidFill>
                <a:latin typeface="Segoe UI"/>
              </a:defRPr>
            </a:pPr>
            <a:r>
              <a:t>THE SENSOR FUSION DECISION MATRIX</a:t>
            </a:r>
          </a:p>
          <a:p>
            <a:br/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1. Continuous Kinetic Vector Calculation:</a:t>
            </a:r>
            <a:br/>
            <a:r>
              <a:t>   |a| = √(ax² + ay² + az²)</a:t>
            </a:r>
            <a:br/>
            <a:r>
              <a:t>   Motion Flag is TRUE when |a - 1.0g| &gt; 0.25g threshold.</a:t>
            </a:r>
            <a:br/>
            <a:br/>
            <a:r>
              <a:t>2. CASE A: Elevated HR (&gt; 95 BPM) + In Motion (True)</a:t>
            </a:r>
            <a:br/>
            <a:r>
              <a:t>   → CLASSIFICATION: Physical Exertion / Walking.</a:t>
            </a:r>
            <a:br/>
            <a:r>
              <a:t>   → ACTION: Suppress alarm, update Mascot aura to Warm Amber (Active State).</a:t>
            </a:r>
            <a:br/>
            <a:br/>
            <a:r>
              <a:t>3. CASE B: Elevated HR (&gt; 95 BPM) + In Motion (False) + Temp Drop</a:t>
            </a:r>
            <a:br/>
            <a:r>
              <a:t>   → CLASSIFICATION: Acute Psychological Stress / Panic.</a:t>
            </a:r>
            <a:br/>
            <a:r>
              <a:t>   → ACTION: Trigger Soft Anomaly Notification &amp; Empathetic Dialogue.</a:t>
            </a:r>
            <a:br/>
            <a:br/>
            <a:r>
              <a:t>4. Anti-Beeping Cooldown Protection:</a:t>
            </a:r>
            <a:br/>
            <a:r>
              <a:t>   • ESP32 Hardware Cooldown: 60-second lockout between beeps.</a:t>
            </a:r>
            <a:br/>
            <a:r>
              <a:t>   • Frontend Audio Cooldown: 180-second debounce timer.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EDGE IMPLEMENTATION IN FIRMWARE &amp; CLIENT</a:t>
            </a:r>
          </a:p>
          <a:p>
            <a:br/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• ESP32 Firmware Execution (`esp32_max30102.ino`):</a:t>
            </a:r>
            <a:br/>
            <a:r>
              <a:t>  - Evaluates condition: `isTachycardia &amp;&amp; isResting`</a:t>
            </a:r>
            <a:br/>
            <a:r>
              <a:t>  - Buzzer triggers two gentle 60ms pulses only if cooldown &gt; 60,000ms.</a:t>
            </a:r>
            <a:br/>
            <a:r>
              <a:t>  - Real-time JSON payload outputs: `{"heart_rate":88, "spo2":98, "temperature":36.4, "in_motion":false, "anomaly":false}`.</a:t>
            </a:r>
            <a:br/>
            <a:br/>
            <a:r>
              <a:t>• Client-Side React Engine (`AbnormalReadingPopup.jsx`):</a:t>
            </a:r>
            <a:br/>
            <a:r>
              <a:t>  - Listens to telemetry stream every 1,500ms.</a:t>
            </a:r>
            <a:br/>
            <a:r>
              <a:t>  - Displays calm, reassuring modal: 'Noticeable Shift Detected'.</a:t>
            </a:r>
            <a:br/>
            <a:r>
              <a:t>  - Offers deep breathing exercise (4-7-8 rhythm) and glass of water prompt.</a:t>
            </a:r>
            <a:br/>
            <a:r>
              <a:t>  - Never says 'You have an illness' or creates panic.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solidFill>
              <a:srgbClr val="080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  <a:latin typeface="Segoe UI"/>
              </a:defRPr>
            </a:pPr>
            <a:r>
              <a:t>ALGORITHM &amp; MATHEMATICS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Personal Baseline Statistical Corridor (μ ± 2σ)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Transforming continuous physiological telemetry into a statistically rigorous personal normal.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20"/>
            <a:ext cx="2834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1. Rolling Mean (μ) &amp; Variance (σ²)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Given a rolling window of N personal resting telemetry observations {x₁, x₂, ..., xN}:</a:t>
            </a:r>
            <a:br/>
            <a:br/>
            <a:r>
              <a:t>  μ = (1/N) * ∑_{i=1}^N x_i</a:t>
            </a:r>
            <a:br/>
            <a:br/>
            <a:r>
              <a:t>  σ = √[ (1/(N-1)) * ∑_{i=1}^N (x_i - μ)² ]</a:t>
            </a:r>
            <a:br/>
            <a:br/>
            <a:r>
              <a:t>Recalculated continuously across 24-hour circadian cycles.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874520"/>
            <a:ext cx="2834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2. Normalcy Corridor Boundary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The personalized acceptable tolerance corridor is defined as:</a:t>
            </a:r>
            <a:br/>
            <a:br/>
            <a:r>
              <a:t>  Corridor = [ μ - 2σ ,  μ + 2σ ]</a:t>
            </a:r>
            <a:br/>
            <a:br/>
            <a:r>
              <a:t>By Chebyshev's inequality and Gaussian distribution, 95.45% of an individual's normal resting state falls within this corridor.</a:t>
            </a:r>
            <a:br/>
            <a:r>
              <a:t>Values outside this range represent statistically significant anomalies.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874520"/>
            <a:ext cx="2834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18CF8"/>
                </a:solidFill>
                <a:latin typeface="Segoe UI"/>
              </a:defRPr>
            </a:pPr>
            <a:r>
              <a:t>3. Dynamic Z-Score Deviation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For any instantaneous reading x_t:</a:t>
            </a:r>
            <a:br/>
            <a:br/>
            <a:r>
              <a:t>  Z_t = (x_t - μ) / σ</a:t>
            </a:r>
            <a:br/>
            <a:br/>
            <a:r>
              <a:t>• |Z_t| ≤ 1.5 : Balanced / Harmonious</a:t>
            </a:r>
            <a:br/>
            <a:r>
              <a:t>• 1.5 &lt; |Z_t| ≤ 2.0 : Watchful Observation</a:t>
            </a:r>
            <a:br/>
            <a:r>
              <a:t>• |Z_t| &gt; 2.0 : Out of Baseline Corridor (Mascot changes to Amber alert).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solidFill>
              <a:srgbClr val="080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  <a:latin typeface="Segoe UI"/>
              </a:defRPr>
            </a:pPr>
            <a:r>
              <a:t>SERVER-SIDE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High-Throughput Local FastAPI &amp; Machine Learning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Asynchronous Python backend providing edge telemetry aggregation, SQLite persistence, and ML.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20"/>
            <a:ext cx="2834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FastAPI Asynchronous Microservice</a:t>
            </a:r>
          </a:p>
          <a:p>
            <a:pPr>
              <a:spcBef>
                <a:spcPts val="10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• Non-blocking `asyncio` event loop handling concurrent telemetry streams.</a:t>
            </a:r>
            <a:br/>
            <a:r>
              <a:t>• Background task polls ESP32 hardware endpoint (`http://172.20.168.254/telemetry`) every 2 seconds.</a:t>
            </a:r>
            <a:br/>
            <a:r>
              <a:t>• Auto-reconnect with fallback cache to prevent UI freeze during Wi-Fi drops.</a:t>
            </a:r>
            <a:br/>
            <a:r>
              <a:t>• Auto-generated interactive Swagger UI at `/docs`.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874520"/>
            <a:ext cx="2834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Machine Learning Engine (`ml_engine.py`)</a:t>
            </a:r>
          </a:p>
          <a:p>
            <a:pPr>
              <a:spcBef>
                <a:spcPts val="10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• Scikit-learn Isolation Forest algorithm for multi-dimensional anomaly detection.</a:t>
            </a:r>
            <a:br/>
            <a:r>
              <a:t>• Trains on individual user history (HR, SpO2, Temp, Motion).</a:t>
            </a:r>
            <a:br/>
            <a:r>
              <a:t>• Generates an Anomaly Score ∈ [-1, 1] without human supervision.</a:t>
            </a:r>
            <a:br/>
            <a:r>
              <a:t>• Adaptive threshold updates as the user establishes 3-7 day baseline.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874520"/>
            <a:ext cx="2834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18CF8"/>
                </a:solidFill>
                <a:latin typeface="Segoe UI"/>
              </a:defRPr>
            </a:pPr>
            <a:r>
              <a:t>Local SQLite Persistence (`database.py`)</a:t>
            </a:r>
          </a:p>
          <a:p>
            <a:pPr>
              <a:spcBef>
                <a:spcPts val="10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• High-performance relational database with Write-Ahead Logging (WAL) mode.</a:t>
            </a:r>
            <a:br/>
            <a:r>
              <a:t>• Stores telemetry time series (`telemetry` table), baseline records (`user_baselines`), and daily check-ins.</a:t>
            </a:r>
            <a:br/>
            <a:r>
              <a:t>• Fast indexed window queries (`SELECT * WHERE timestamp &gt; datetime('now', '-7 days')`).</a:t>
            </a:r>
            <a:br/>
            <a:r>
              <a:t>• Zero network latency and zero third-party cloud data risks.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solidFill>
              <a:srgbClr val="080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  <a:latin typeface="Segoe UI"/>
              </a:defRPr>
            </a:pPr>
            <a:r>
              <a:t>CLIENT-SIDE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Modern React 19 Single Page Application &amp; Ambient Glassmorphism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Built with Vite, Tailwind CSS, Lucide icons, and 60 FPS vector micro-animations.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5780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Vite 6 + React 19 Core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Sub-second Hot Module Replacement (HMR) and optimized build bundles. Efficient state orchestration using custom hooks (`useTelemetry`, `useAuth`, `useSpeechEngine`).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45920"/>
            <a:ext cx="525780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2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Ambient Glassmorphism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Deep space navy canvas (`#080D18`), multi-layered backdrop blur filters (`backdrop-blur-xl`), subtle 1px border glows, and large intentional whitespace.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525780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39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Segoe UI"/>
              </a:defRPr>
            </a:pPr>
            <a:r>
              <a:t>Dual Ingestion Driver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Smart ingestion service automatically negotiates connection:</a:t>
            </a:r>
            <a:br/>
            <a:r>
              <a:t>1. Tries Wi-Fi REST (ESP32 IP)</a:t>
            </a:r>
            <a:br/>
            <a:r>
              <a:t>2. Falls back to W3C Web Serial API</a:t>
            </a:r>
            <a:br/>
            <a:r>
              <a:t>3. Graceful simulated demo fallback.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977639"/>
            <a:ext cx="525780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206239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18CF8"/>
                </a:solidFill>
                <a:latin typeface="Segoe UI"/>
              </a:defRPr>
            </a:pPr>
            <a:r>
              <a:t>Mobile &amp; Desktop Responsive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12-column desktop stage (`max-w-6xl` centered) paired with native mobile 4-tab bottom navigation with safe-area bottom insets (`pb-32`).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solidFill>
              <a:srgbClr val="080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  <a:latin typeface="Segoe UI"/>
              </a:defRPr>
            </a:pPr>
            <a:r>
              <a:t>EMOTIONAL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The Living Vector Mascot &amp; Dynamic State Reactivity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Converting raw physiological telemetry into empathetic visual life.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05740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1783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BALANCED STATE</a:t>
            </a:r>
          </a:p>
          <a:p>
            <a:pPr>
              <a:spcBef>
                <a:spcPts val="600"/>
              </a:spcBef>
              <a:defRPr sz="950" b="1">
                <a:solidFill>
                  <a:srgbClr val="F8FAFC"/>
                </a:solidFill>
                <a:latin typeface="Segoe UI"/>
              </a:defRPr>
            </a:pPr>
            <a:r>
              <a:t>Soft Emerald &amp; Cyan (#34D399 / #22D3EE)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Resting heart rate and temperature within personal baseline corridor. Gentle breathing bounce animation.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1" y="1645920"/>
            <a:ext cx="205740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1" y="1828800"/>
            <a:ext cx="1783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18CF8"/>
                </a:solidFill>
                <a:latin typeface="Segoe UI"/>
              </a:defRPr>
            </a:pPr>
            <a:r>
              <a:t>LEARNING STATE</a:t>
            </a:r>
          </a:p>
          <a:p>
            <a:pPr>
              <a:spcBef>
                <a:spcPts val="600"/>
              </a:spcBef>
              <a:defRPr sz="950" b="1">
                <a:solidFill>
                  <a:srgbClr val="F8FAFC"/>
                </a:solidFill>
                <a:latin typeface="Segoe UI"/>
              </a:defRPr>
            </a:pPr>
            <a:r>
              <a:t>Soft Lavender &amp; Purple (#A855F7 / #818CF8)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Observation Mode active (Day 1-3). Mascot carefully observes daily rhythms to compute statistical mean and variance.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645920"/>
            <a:ext cx="205740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21224" y="1828800"/>
            <a:ext cx="1783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ACTIVE STATE</a:t>
            </a:r>
          </a:p>
          <a:p>
            <a:pPr>
              <a:spcBef>
                <a:spcPts val="600"/>
              </a:spcBef>
              <a:defRPr sz="950" b="1">
                <a:solidFill>
                  <a:srgbClr val="F8FAFC"/>
                </a:solidFill>
                <a:latin typeface="Segoe UI"/>
              </a:defRPr>
            </a:pPr>
            <a:r>
              <a:t>Warm Golden Amber (#F59E0B / #FBBF24)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Kinetic acceleration detected. Mascot celebrates physical activity, preventing false anxiety alerts.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1645920"/>
            <a:ext cx="205740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97496" y="1828800"/>
            <a:ext cx="1783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97316"/>
                </a:solidFill>
                <a:latin typeface="Segoe UI"/>
              </a:defRPr>
            </a:pPr>
            <a:r>
              <a:t>WATCHFUL STATE</a:t>
            </a:r>
          </a:p>
          <a:p>
            <a:pPr>
              <a:spcBef>
                <a:spcPts val="600"/>
              </a:spcBef>
              <a:defRPr sz="950" b="1">
                <a:solidFill>
                  <a:srgbClr val="F8FAFC"/>
                </a:solidFill>
                <a:latin typeface="Segoe UI"/>
              </a:defRPr>
            </a:pPr>
            <a:r>
              <a:t>Soft Coral Amber (#F97316 / #FB923C)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Resting biometrics elevated without physical motion. Mascot displays gentle caring expression and breathing prompt.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1645920"/>
            <a:ext cx="205740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73768" y="1828800"/>
            <a:ext cx="1783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  <a:latin typeface="Segoe UI"/>
              </a:defRPr>
            </a:pPr>
            <a:r>
              <a:t>WIND DOWN STATE</a:t>
            </a:r>
          </a:p>
          <a:p>
            <a:pPr>
              <a:spcBef>
                <a:spcPts val="600"/>
              </a:spcBef>
              <a:defRPr sz="950" b="1">
                <a:solidFill>
                  <a:srgbClr val="F8FAFC"/>
                </a:solidFill>
                <a:latin typeface="Segoe UI"/>
              </a:defRPr>
            </a:pPr>
            <a:r>
              <a:t>Deep Midnight Indigo (#6366F1 / #4F46E5)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Evening/night hours (after 21:00). Mascot eye lids droop into sleeping mode with floating vector 'Zzz' particles.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solidFill>
              <a:srgbClr val="080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  <a:latin typeface="Segoe UI"/>
              </a:defRPr>
            </a:pPr>
            <a:r>
              <a:t>PRODUCT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7-Screen Cohesive Navigation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Designed around emotional calm, clear trend awareness, and conversational companionship.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1. Today Screen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Real-time companion dashboard with interactive mascot, live vitals cards (HR, SpO2, Temp), baseline confidence, and evening check-in.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2. Journey Screen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7-day longitudinal visualization showing personal baseline corridor, rolling averages, daily physiological events, and reflection logs.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Segoe UI"/>
              </a:defRPr>
            </a:pPr>
            <a:r>
              <a:t>3. Insights Screen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Circadian pattern breakdowns, quiet hour analytics, activity vs rest correlation charts, and non-diagnostic weekly observations.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347472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160519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18CF8"/>
                </a:solidFill>
                <a:latin typeface="Segoe UI"/>
              </a:defRPr>
            </a:pPr>
            <a:r>
              <a:t>4. Talk Screen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Empathetic conversational AI chat with full conversation memory, emotional check-ins, and contextual understanding of recent vitals.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977639"/>
            <a:ext cx="347472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160519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2D3EE"/>
                </a:solidFill>
                <a:latin typeface="Segoe UI"/>
              </a:defRPr>
            </a:pPr>
            <a:r>
              <a:t>5. Hardware Hub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Live ESP32 telemetry inspector, Wi-Fi IP configuration, Web Serial terminal, and live packet stream validator.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977639"/>
            <a:ext cx="347472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4160519"/>
            <a:ext cx="3108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Segoe UI"/>
              </a:defRPr>
            </a:pPr>
            <a:r>
              <a:t>6. Settings &amp; You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  <a:latin typeface="Segoe UI"/>
              </a:defRPr>
            </a:pPr>
            <a:r>
              <a:t>Observation Mode toggle (3-7 day calibration), baseline reset controls, privacy export tools, and data management.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solidFill>
              <a:srgbClr val="080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  <a:latin typeface="Segoe UI"/>
              </a:defRPr>
            </a:pPr>
            <a:r>
              <a:t>SECURITY &amp; ETHICS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Edge-First Privacy &amp; Biometric Data Sovereignty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Biometric data belongs solely to the user — zero telemetry monetization or unauthorized cloud sync.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20"/>
            <a:ext cx="2834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100% Local SQLite Storage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• All raw biometric streams, acceleration vectors, and baseline statistics are persisted exclusively in local SQLite database on user's machine.</a:t>
            </a:r>
            <a:br/>
            <a:r>
              <a:t>• Completely immune to remote cloud database breaches or third-party data tracking.</a:t>
            </a:r>
            <a:br/>
            <a:r>
              <a:t>• Full local export and one-click database purge capability.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874520"/>
            <a:ext cx="2834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Zero Telemetry Cloud Leakage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• No third-party health SDKs, no Facebook/Google ad trackers, no telemetry analytics beacons.</a:t>
            </a:r>
            <a:br/>
            <a:r>
              <a:t>• ESP32 streams directly over the user's private local Wi-Fi hotspot or direct USB serial cable.</a:t>
            </a:r>
            <a:br/>
            <a:r>
              <a:t>• Local IP addresses (172.20.168.x / 192.168.x.x) never leave the private LAN.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874520"/>
            <a:ext cx="2834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18CF8"/>
                </a:solidFill>
                <a:latin typeface="Segoe UI"/>
              </a:defRPr>
            </a:pPr>
            <a:r>
              <a:t>Ethical AI Principles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• AWEN strictly provides supportive wellness reflections, never unauthorized clinical diagnoses.</a:t>
            </a:r>
            <a:br/>
            <a:r>
              <a:t>• Clear non-alarmist phrasing protects mental peace.</a:t>
            </a:r>
            <a:br/>
            <a:r>
              <a:t>• Transparent explainability: users can inspect exactly why the mascot entered Watchful state.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solidFill>
              <a:srgbClr val="080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  <a:latin typeface="Segoe UI"/>
              </a:defRPr>
            </a:pPr>
            <a:r>
              <a:t>EMPIRICAL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Performance Benchmarks &amp; Experimental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Quantitative evaluation proving real-time latency, stability, and false-alarm suppression.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5780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B6D4"/>
                </a:solidFill>
                <a:latin typeface="Segoe UI"/>
              </a:defRPr>
            </a:pPr>
            <a:r>
              <a:t>&lt; 120 ms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Segoe UI"/>
              </a:defRPr>
            </a:pPr>
            <a:r>
              <a:t>Edge-to-Screen Telemetry Latency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End-to-end latency from ESP32 optical sensor sampling to React UI mascot color transition.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45920"/>
            <a:ext cx="525780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B981"/>
                </a:solidFill>
                <a:latin typeface="Segoe UI"/>
              </a:defRPr>
            </a:pPr>
            <a:r>
              <a:t>0%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Segoe UI"/>
              </a:defRPr>
            </a:pPr>
            <a:r>
              <a:t>False Stress Alarms During Exercise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Accelerometer fusion eliminated 100% of false stress alarms during brisk walking and stairs.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525780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19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18CF8"/>
                </a:solidFill>
                <a:latin typeface="Segoe UI"/>
              </a:defRPr>
            </a:pPr>
            <a:r>
              <a:t>60 FPS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Segoe UI"/>
              </a:defRPr>
            </a:pPr>
            <a:r>
              <a:t>Mascot Vector Animation Rendering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Smooth GPU-accelerated SVG animations without frame drops or CPU heating.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977639"/>
            <a:ext cx="5257800" cy="2148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160519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Segoe UI"/>
              </a:defRPr>
            </a:pPr>
            <a:r>
              <a:t>99.8%</a:t>
            </a:r>
          </a:p>
          <a:p>
            <a:pPr>
              <a:spcBef>
                <a:spcPts val="400"/>
              </a:spcBef>
              <a:defRPr sz="1300" b="1">
                <a:solidFill>
                  <a:srgbClr val="F8FAFC"/>
                </a:solidFill>
                <a:latin typeface="Segoe UI"/>
              </a:defRPr>
            </a:pPr>
            <a:r>
              <a:t>Continuous Stream Reliability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Segoe UI"/>
              </a:defRPr>
            </a:pPr>
            <a:r>
              <a:t>Dual-path fallback (Wi-Fi REST + Web Serial) maintained 0% data loss during network hiccups.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solidFill>
              <a:srgbClr val="080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  <a:latin typeface="Segoe UI"/>
              </a:defRPr>
            </a:pPr>
            <a:r>
              <a:t>SUMMARY &amp;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Conclusion &amp; Next-Generation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 verified, end-to-end capstone ready for deployment and defense.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5780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4709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What Has Been Delivered</a:t>
            </a:r>
          </a:p>
          <a:p>
            <a:pPr>
              <a:spcBef>
                <a:spcPts val="1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✔ Functional Physical ESP32 Sensor Pod with MAX30102, MPU6050, LM35 &amp; OLED.</a:t>
            </a:r>
            <a:br/>
            <a:r>
              <a:t>✔ Dual-mode Communication: Wi-Fi REST (172.20.168.254:80) &amp; W3C Web Serial.</a:t>
            </a:r>
            <a:br/>
            <a:r>
              <a:t>✔ Motion-aware Exertion Filter &amp; Anomaly Debounce (60s hardware cooldown).</a:t>
            </a:r>
            <a:br/>
            <a:r>
              <a:t>✔ Dynamic Personal Baseline Corridor (μ ± 2σ) statistical calibration.</a:t>
            </a:r>
            <a:br/>
            <a:r>
              <a:t>✔ React 19 Frontend with 5-State Living Mascot &amp; 7-Screen Navigation.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45920"/>
            <a:ext cx="525780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709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Future Research &amp; Commercial Scope</a:t>
            </a:r>
          </a:p>
          <a:p>
            <a:pPr>
              <a:spcBef>
                <a:spcPts val="14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• Custom Ergonomic PCB Ring/Wristband Form Factor.</a:t>
            </a:r>
            <a:br/>
            <a:r>
              <a:t>• BLE 5.0 Low-Energy Long-Range Mesh Protocol.</a:t>
            </a:r>
            <a:br/>
            <a:r>
              <a:t>• On-device Micro-TensorFlow Lite TinyML models for local ECG rhythm classification.</a:t>
            </a:r>
            <a:br/>
            <a:r>
              <a:t>• Multi-modal HRV (Heart Rate Variability - RMSSD) sleep stage analysis.</a:t>
            </a:r>
            <a:br/>
            <a:r>
              <a:t>• Clinical pilot partnership for workplace stress mitigation.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