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02920"/>
            <a:ext cx="2926080" cy="365760"/>
          </a:xfrm>
          <a:prstGeom prst="rect">
            <a:avLst/>
          </a:prstGeom>
          <a:solidFill>
            <a:srgbClr val="FFD027"/>
          </a:solidFill>
          <a:ln w="2540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111111"/>
                </a:solidFill>
                <a:latin typeface="Arial Black"/>
              </a:defRPr>
            </a:pPr>
            <a:r>
              <a:t>CAPSTONE | B.TECH CSE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728655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400" b="1">
                <a:solidFill>
                  <a:srgbClr val="111111"/>
                </a:solidFill>
                <a:latin typeface="Arial Black"/>
              </a:defRPr>
            </a:pPr>
            <a:r>
              <a:t>AWEN: Smart Health &amp; Stress Companion</a:t>
            </a:r>
          </a:p>
          <a:p>
            <a:pPr>
              <a:spcBef>
                <a:spcPts val="600"/>
              </a:spcBef>
              <a:defRPr sz="1600">
                <a:solidFill>
                  <a:srgbClr val="1E293B"/>
                </a:solidFill>
                <a:latin typeface="Arial"/>
              </a:defRPr>
            </a:pPr>
            <a:r>
              <a:t>A smart wearable pod that learns YOUR personal normal and stops annoying false stress alarms.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86384" y="3575304"/>
            <a:ext cx="2560320" cy="265176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3520440"/>
            <a:ext cx="2560320" cy="2651760"/>
          </a:xfrm>
          <a:prstGeom prst="rect">
            <a:avLst/>
          </a:prstGeom>
          <a:solidFill>
            <a:srgbClr val="DCFCE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3685032"/>
            <a:ext cx="2231136" cy="2322576"/>
          </a:xfrm>
          <a:prstGeom prst="rect">
            <a:avLst/>
          </a:prstGeom>
          <a:noFill/>
        </p:spPr>
        <p:txBody>
          <a:bodyPr wrap="square" tIns="50800" bIns="50800" lIns="50800" rIns="50800">
            <a:spAutoFit/>
          </a:bodyPr>
          <a:lstStyle/>
          <a:p>
            <a:pPr>
              <a:defRPr sz="1350" b="1">
                <a:solidFill>
                  <a:srgbClr val="111111"/>
                </a:solidFill>
                <a:latin typeface="Arial Black"/>
              </a:defRPr>
            </a:pPr>
            <a:r>
              <a:t>ESP32 HARDWARE POD</a:t>
            </a:r>
          </a:p>
          <a:p>
            <a:pPr>
              <a:spcBef>
                <a:spcPts val="8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Reads your pulse, blood oxygen (SpO2), skin temperature, and motion in real time.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3483864" y="3575304"/>
            <a:ext cx="2560320" cy="265176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29000" y="3520440"/>
            <a:ext cx="2560320" cy="2651760"/>
          </a:xfrm>
          <a:prstGeom prst="rect">
            <a:avLst/>
          </a:prstGeom>
          <a:solidFill>
            <a:srgbClr val="FEF3C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93592" y="3685032"/>
            <a:ext cx="2231136" cy="2322576"/>
          </a:xfrm>
          <a:prstGeom prst="rect">
            <a:avLst/>
          </a:prstGeom>
          <a:noFill/>
        </p:spPr>
        <p:txBody>
          <a:bodyPr wrap="square" tIns="50800" bIns="50800" lIns="50800" rIns="50800">
            <a:spAutoFit/>
          </a:bodyPr>
          <a:lstStyle/>
          <a:p>
            <a:pPr>
              <a:defRPr sz="1350" b="1">
                <a:solidFill>
                  <a:srgbClr val="111111"/>
                </a:solidFill>
                <a:latin typeface="Arial Black"/>
              </a:defRPr>
            </a:pPr>
            <a:r>
              <a:t>PERSONAL NORMAL</a:t>
            </a:r>
          </a:p>
          <a:p>
            <a:pPr>
              <a:spcBef>
                <a:spcPts val="8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Compares your body to YOUR OWN baseline, not to a generic one-size-fits-all medical cutoff.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81344" y="3575304"/>
            <a:ext cx="2560320" cy="265176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26480" y="3520440"/>
            <a:ext cx="2560320" cy="2651760"/>
          </a:xfrm>
          <a:prstGeom prst="rect">
            <a:avLst/>
          </a:prstGeom>
          <a:solidFill>
            <a:srgbClr val="E0F2FE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91072" y="3685032"/>
            <a:ext cx="2231136" cy="2322576"/>
          </a:xfrm>
          <a:prstGeom prst="rect">
            <a:avLst/>
          </a:prstGeom>
          <a:noFill/>
        </p:spPr>
        <p:txBody>
          <a:bodyPr wrap="square" tIns="50800" bIns="50800" lIns="50800" rIns="50800">
            <a:spAutoFit/>
          </a:bodyPr>
          <a:lstStyle/>
          <a:p>
            <a:pPr>
              <a:defRPr sz="1350" b="1">
                <a:solidFill>
                  <a:srgbClr val="111111"/>
                </a:solidFill>
                <a:latin typeface="Arial Black"/>
              </a:defRPr>
            </a:pPr>
            <a:r>
              <a:t>SMART MOTION FILTER</a:t>
            </a:r>
          </a:p>
          <a:p>
            <a:pPr>
              <a:spcBef>
                <a:spcPts val="8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Knows when you are walking or exercising so you never get false stress alarms.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78824" y="3575304"/>
            <a:ext cx="2560320" cy="265176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823960" y="3520440"/>
            <a:ext cx="2560320" cy="2651760"/>
          </a:xfrm>
          <a:prstGeom prst="rect">
            <a:avLst/>
          </a:prstGeom>
          <a:solidFill>
            <a:srgbClr val="F3E8FF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88552" y="3685032"/>
            <a:ext cx="2231136" cy="2322576"/>
          </a:xfrm>
          <a:prstGeom prst="rect">
            <a:avLst/>
          </a:prstGeom>
          <a:noFill/>
        </p:spPr>
        <p:txBody>
          <a:bodyPr wrap="square" tIns="50800" bIns="50800" lIns="50800" rIns="50800">
            <a:spAutoFit/>
          </a:bodyPr>
          <a:lstStyle/>
          <a:p>
            <a:pPr>
              <a:defRPr sz="1350" b="1">
                <a:solidFill>
                  <a:srgbClr val="111111"/>
                </a:solidFill>
                <a:latin typeface="Arial Black"/>
              </a:defRPr>
            </a:pPr>
            <a:r>
              <a:t>100% PRIVATE &amp; SAFE</a:t>
            </a:r>
          </a:p>
          <a:p>
            <a:pPr>
              <a:spcBef>
                <a:spcPts val="8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Saved right on your own laptop in local SQLite. Zero biometric data leaves your machine.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6236208"/>
            <a:ext cx="10728655" cy="438912"/>
          </a:xfrm>
          <a:prstGeom prst="rect">
            <a:avLst/>
          </a:prstGeom>
          <a:solidFill>
            <a:srgbClr val="FFFFFF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254496"/>
            <a:ext cx="10545775" cy="402336"/>
          </a:xfrm>
          <a:prstGeom prst="rect">
            <a:avLst/>
          </a:prstGeom>
          <a:noFill/>
        </p:spPr>
        <p:txBody>
          <a:bodyPr wrap="square" tIns="25400" bIns="25400">
            <a:spAutoFit/>
          </a:bodyPr>
          <a:lstStyle/>
          <a:p>
            <a:pPr>
              <a:defRPr sz="950" b="1">
                <a:solidFill>
                  <a:srgbClr val="111111"/>
                </a:solidFill>
                <a:latin typeface="Arial"/>
              </a:defRPr>
            </a:pPr>
            <a:r>
              <a:t>TEAM AF52: Diya Singh (Lead &amp; System Architect · EU1258014), Parth Topale (EU1258058), Nishtha Lokhande (EU1258019), Swara Patil (EU1258011) | Guide: Prof. Sachin Sase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2212848" cy="320040"/>
          </a:xfrm>
          <a:prstGeom prst="rect">
            <a:avLst/>
          </a:prstGeom>
          <a:solidFill>
            <a:srgbClr val="FFD027"/>
          </a:solidFill>
          <a:ln w="2540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 lIns="50800" rIns="50800"/>
          <a:lstStyle/>
          <a:p>
            <a:pPr algn="ctr">
              <a:defRPr sz="1050" b="1">
                <a:solidFill>
                  <a:srgbClr val="111111"/>
                </a:solidFill>
                <a:latin typeface="Arial"/>
              </a:defRPr>
            </a:pPr>
            <a:r>
              <a:t>THE REAL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10728655" cy="11430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400" b="1">
                <a:solidFill>
                  <a:srgbClr val="111111"/>
                </a:solidFill>
                <a:latin typeface="Arial Black"/>
              </a:defRPr>
            </a:pPr>
            <a:r>
              <a:t>Why Do Normal Fitness Watches Annoy Users?</a:t>
            </a:r>
          </a:p>
          <a:p>
            <a:pPr>
              <a:spcBef>
                <a:spcPts val="300"/>
              </a:spcBef>
              <a:defRPr sz="1300">
                <a:solidFill>
                  <a:srgbClr val="1E293B"/>
                </a:solidFill>
                <a:latin typeface="Arial"/>
              </a:defRPr>
            </a:pPr>
            <a:r>
              <a:t>Current smartwatches compare everyone to generic averages and cause unnecessary panic.</a:t>
            </a:r>
          </a:p>
        </p:txBody>
      </p:sp>
      <p:sp>
        <p:nvSpPr>
          <p:cNvPr id="5" name="Rectangle 4"/>
          <p:cNvSpPr/>
          <p:nvPr/>
        </p:nvSpPr>
        <p:spPr>
          <a:xfrm>
            <a:off x="786384" y="2020824"/>
            <a:ext cx="3383280" cy="438912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965960"/>
            <a:ext cx="3383280" cy="4389120"/>
          </a:xfrm>
          <a:prstGeom prst="rect">
            <a:avLst/>
          </a:prstGeom>
          <a:solidFill>
            <a:srgbClr val="FEE2E2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167128"/>
            <a:ext cx="2980944" cy="3986784"/>
          </a:xfrm>
          <a:prstGeom prst="rect">
            <a:avLst/>
          </a:prstGeom>
          <a:noFill/>
        </p:spPr>
        <p:txBody>
          <a:bodyPr wrap="square" tIns="50800" bIns="50800" lIns="50800" rIns="50800">
            <a:spAutoFit/>
          </a:bodyPr>
          <a:lstStyle/>
          <a:p>
            <a:pPr>
              <a:defRPr sz="1600" b="1">
                <a:solidFill>
                  <a:srgbClr val="111111"/>
                </a:solidFill>
                <a:latin typeface="Arial Black"/>
              </a:defRPr>
            </a:pPr>
            <a:r>
              <a:t>1. Generic 100 BPM Rule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  <a:latin typeface="Arial"/>
              </a:defRPr>
            </a:pPr>
            <a:r>
              <a:t>Standard watches flag any heart rate over 100 BPM as dangerous tachycardia.</a:t>
            </a:r>
          </a:p>
          <a:p>
            <a:pPr>
              <a:spcBef>
                <a:spcPts val="6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• Ignores individual physiology: An athlete rests at 50 BPM, while a student rests at 80 BPM.</a:t>
            </a:r>
          </a:p>
          <a:p>
            <a:pPr>
              <a:spcBef>
                <a:spcPts val="6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• A single fixed medical cutoff cannot fit both people!</a:t>
            </a:r>
          </a:p>
        </p:txBody>
      </p:sp>
      <p:sp>
        <p:nvSpPr>
          <p:cNvPr id="8" name="Rectangle 7"/>
          <p:cNvSpPr/>
          <p:nvPr/>
        </p:nvSpPr>
        <p:spPr>
          <a:xfrm>
            <a:off x="4443984" y="2020824"/>
            <a:ext cx="3383280" cy="438912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1965960"/>
            <a:ext cx="3383280" cy="4389120"/>
          </a:xfrm>
          <a:prstGeom prst="rect">
            <a:avLst/>
          </a:prstGeom>
          <a:solidFill>
            <a:srgbClr val="FEF3C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0288" y="2167128"/>
            <a:ext cx="2980944" cy="3986784"/>
          </a:xfrm>
          <a:prstGeom prst="rect">
            <a:avLst/>
          </a:prstGeom>
          <a:noFill/>
        </p:spPr>
        <p:txBody>
          <a:bodyPr wrap="square" tIns="50800" bIns="50800" lIns="50800" rIns="50800">
            <a:spAutoFit/>
          </a:bodyPr>
          <a:lstStyle/>
          <a:p>
            <a:pPr>
              <a:defRPr sz="1600" b="1">
                <a:solidFill>
                  <a:srgbClr val="111111"/>
                </a:solidFill>
                <a:latin typeface="Arial Black"/>
              </a:defRPr>
            </a:pPr>
            <a:r>
              <a:t>2. Walking = False Stress Alarm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  <a:latin typeface="Arial"/>
              </a:defRPr>
            </a:pPr>
            <a:r>
              <a:t>When you climb stairs or walk quickly, your heart naturally beats faster.</a:t>
            </a:r>
          </a:p>
          <a:p>
            <a:pPr>
              <a:spcBef>
                <a:spcPts val="6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• Watches are motion-blind: They cannot tell if you are moving or sitting still.</a:t>
            </a:r>
          </a:p>
          <a:p>
            <a:pPr>
              <a:spcBef>
                <a:spcPts val="6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• They falsely beep: 'You are stressed!' when you were just walking!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01584" y="2020824"/>
            <a:ext cx="3383280" cy="438912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965960"/>
            <a:ext cx="3383280" cy="4389120"/>
          </a:xfrm>
          <a:prstGeom prst="rect">
            <a:avLst/>
          </a:prstGeom>
          <a:solidFill>
            <a:srgbClr val="E0F2FE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47888" y="2167128"/>
            <a:ext cx="2980944" cy="3986784"/>
          </a:xfrm>
          <a:prstGeom prst="rect">
            <a:avLst/>
          </a:prstGeom>
          <a:noFill/>
        </p:spPr>
        <p:txBody>
          <a:bodyPr wrap="square" tIns="50800" bIns="50800" lIns="50800" rIns="50800">
            <a:spAutoFit/>
          </a:bodyPr>
          <a:lstStyle/>
          <a:p>
            <a:pPr>
              <a:defRPr sz="1600" b="1">
                <a:solidFill>
                  <a:srgbClr val="111111"/>
                </a:solidFill>
                <a:latin typeface="Arial Black"/>
              </a:defRPr>
            </a:pPr>
            <a:r>
              <a:t>3. Scary Warnings &amp; Cloud Leaks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  <a:latin typeface="Arial"/>
              </a:defRPr>
            </a:pPr>
            <a:r>
              <a:t>Sudden red alarms create anxiety and fear instead of helping you feel calm.</a:t>
            </a:r>
          </a:p>
          <a:p>
            <a:pPr>
              <a:spcBef>
                <a:spcPts val="6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• Alarms trigger acute panic loops rather than gentle guidance.</a:t>
            </a:r>
          </a:p>
          <a:p>
            <a:pPr>
              <a:spcBef>
                <a:spcPts val="6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• In addition, private biometrics get shipped to commercial cloud servers for monetization.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773936" cy="320040"/>
          </a:xfrm>
          <a:prstGeom prst="rect">
            <a:avLst/>
          </a:prstGeom>
          <a:solidFill>
            <a:srgbClr val="FFD027"/>
          </a:solidFill>
          <a:ln w="2540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 lIns="50800" rIns="50800"/>
          <a:lstStyle/>
          <a:p>
            <a:pPr algn="ctr">
              <a:defRPr sz="1050" b="1">
                <a:solidFill>
                  <a:srgbClr val="111111"/>
                </a:solidFill>
                <a:latin typeface="Arial"/>
              </a:defRPr>
            </a:pPr>
            <a:r>
              <a:t>OUR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10728655" cy="11430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400" b="1">
                <a:solidFill>
                  <a:srgbClr val="111111"/>
                </a:solidFill>
                <a:latin typeface="Arial Black"/>
              </a:defRPr>
            </a:pPr>
            <a:r>
              <a:t>The AWEN Difference: Personal Normal + Caring Mascot</a:t>
            </a:r>
          </a:p>
          <a:p>
            <a:pPr>
              <a:spcBef>
                <a:spcPts val="300"/>
              </a:spcBef>
              <a:defRPr sz="1300">
                <a:solidFill>
                  <a:srgbClr val="1E293B"/>
                </a:solidFill>
                <a:latin typeface="Arial"/>
              </a:defRPr>
            </a:pPr>
            <a:r>
              <a:t>Instead of hospital alarms, AWEN acts as an empathetic personal companion.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786384" y="2020824"/>
            <a:ext cx="525780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965960"/>
            <a:ext cx="5257800" cy="2057400"/>
          </a:xfrm>
          <a:prstGeom prst="rect">
            <a:avLst/>
          </a:prstGeom>
          <a:solidFill>
            <a:srgbClr val="DCFCE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48840"/>
            <a:ext cx="4800600" cy="1691640"/>
          </a:xfrm>
          <a:prstGeom prst="rect">
            <a:avLst/>
          </a:prstGeom>
          <a:noFill/>
        </p:spPr>
        <p:txBody>
          <a:bodyPr wrap="square" tIns="25400" bIns="25400" lIns="25400" rIns="25400">
            <a:spAutoFit/>
          </a:bodyPr>
          <a:lstStyle/>
          <a:p>
            <a:pPr>
              <a:defRPr sz="1500" b="1">
                <a:solidFill>
                  <a:srgbClr val="111111"/>
                </a:solidFill>
                <a:latin typeface="Arial Black"/>
              </a:defRPr>
            </a:pPr>
            <a:r>
              <a:t>1. We Learn YOUR Personal Normal</a:t>
            </a:r>
          </a:p>
          <a:p>
            <a:pPr>
              <a:spcBef>
                <a:spcPts val="5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Over the first 3 to 7 days, AWEN observes your daily routine and calculates YOUR personal normal range (μ ± 2σ). It asks: 'Is your body unusual for YOU?' instead of applying generic rules.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27064" y="2020824"/>
            <a:ext cx="525780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965960"/>
            <a:ext cx="5257800" cy="2057400"/>
          </a:xfrm>
          <a:prstGeom prst="rect">
            <a:avLst/>
          </a:prstGeom>
          <a:solidFill>
            <a:srgbClr val="FEF3C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148840"/>
            <a:ext cx="4800600" cy="1691640"/>
          </a:xfrm>
          <a:prstGeom prst="rect">
            <a:avLst/>
          </a:prstGeom>
          <a:noFill/>
        </p:spPr>
        <p:txBody>
          <a:bodyPr wrap="square" tIns="25400" bIns="25400" lIns="25400" rIns="25400">
            <a:spAutoFit/>
          </a:bodyPr>
          <a:lstStyle/>
          <a:p>
            <a:pPr>
              <a:defRPr sz="1500" b="1">
                <a:solidFill>
                  <a:srgbClr val="111111"/>
                </a:solidFill>
                <a:latin typeface="Arial Black"/>
              </a:defRPr>
            </a:pPr>
            <a:r>
              <a:t>2. Smart Motion Filter (No False Alarms)</a:t>
            </a:r>
          </a:p>
          <a:p>
            <a:pPr>
              <a:spcBef>
                <a:spcPts val="5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We connect an optical pulse sensor AND an MPU-6050 motion sensor. If your pulse rises while walking, AWEN knows it is healthy exertion and stays completely quiet.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6384" y="4261104"/>
            <a:ext cx="525780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4206240"/>
            <a:ext cx="5257800" cy="2057400"/>
          </a:xfrm>
          <a:prstGeom prst="rect">
            <a:avLst/>
          </a:prstGeom>
          <a:solidFill>
            <a:srgbClr val="E0F2FE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389120"/>
            <a:ext cx="4800600" cy="1691640"/>
          </a:xfrm>
          <a:prstGeom prst="rect">
            <a:avLst/>
          </a:prstGeom>
          <a:noFill/>
        </p:spPr>
        <p:txBody>
          <a:bodyPr wrap="square" tIns="25400" bIns="25400" lIns="25400" rIns="25400">
            <a:spAutoFit/>
          </a:bodyPr>
          <a:lstStyle/>
          <a:p>
            <a:pPr>
              <a:defRPr sz="1500" b="1">
                <a:solidFill>
                  <a:srgbClr val="111111"/>
                </a:solidFill>
                <a:latin typeface="Arial Black"/>
              </a:defRPr>
            </a:pPr>
            <a:r>
              <a:t>3. Living Friendly Mascot (Awen)</a:t>
            </a:r>
          </a:p>
          <a:p>
            <a:pPr>
              <a:spcBef>
                <a:spcPts val="5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Replaces scary hospital charts with 'Awen' — a friendly vector mascot that changes color with your body: Green when balanced, Yellow when active, and Amber when watchful.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27064" y="4261104"/>
            <a:ext cx="525780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4206240"/>
            <a:ext cx="5257800" cy="2057400"/>
          </a:xfrm>
          <a:prstGeom prst="rect">
            <a:avLst/>
          </a:prstGeom>
          <a:solidFill>
            <a:srgbClr val="F3E8FF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4389120"/>
            <a:ext cx="4800600" cy="1691640"/>
          </a:xfrm>
          <a:prstGeom prst="rect">
            <a:avLst/>
          </a:prstGeom>
          <a:noFill/>
        </p:spPr>
        <p:txBody>
          <a:bodyPr wrap="square" tIns="25400" bIns="25400" lIns="25400" rIns="25400">
            <a:spAutoFit/>
          </a:bodyPr>
          <a:lstStyle/>
          <a:p>
            <a:pPr>
              <a:defRPr sz="1500" b="1">
                <a:solidFill>
                  <a:srgbClr val="111111"/>
                </a:solidFill>
                <a:latin typeface="Arial Black"/>
              </a:defRPr>
            </a:pPr>
            <a:r>
              <a:t>4. 100% Private on Your Machine</a:t>
            </a:r>
          </a:p>
          <a:p>
            <a:pPr>
              <a:spcBef>
                <a:spcPts val="5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Zero cloud databases. All sensor readings and reflections stay safely in a local SQLite database (awen.db) on your own laptop. Complete data sovereignty guaranteed.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2103120" cy="320040"/>
          </a:xfrm>
          <a:prstGeom prst="rect">
            <a:avLst/>
          </a:prstGeom>
          <a:solidFill>
            <a:srgbClr val="FFD027"/>
          </a:solidFill>
          <a:ln w="2540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 lIns="50800" rIns="50800"/>
          <a:lstStyle/>
          <a:p>
            <a:pPr algn="ctr">
              <a:defRPr sz="1050" b="1">
                <a:solidFill>
                  <a:srgbClr val="111111"/>
                </a:solidFill>
                <a:latin typeface="Arial"/>
              </a:defRPr>
            </a:pPr>
            <a:r>
              <a:t>SYSTEM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10728655" cy="11430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400" b="1">
                <a:solidFill>
                  <a:srgbClr val="111111"/>
                </a:solidFill>
                <a:latin typeface="Arial Black"/>
              </a:defRPr>
            </a:pPr>
            <a:r>
              <a:t>How The Whole System Works in 3 Clear Steps</a:t>
            </a:r>
          </a:p>
          <a:p>
            <a:pPr>
              <a:spcBef>
                <a:spcPts val="300"/>
              </a:spcBef>
              <a:defRPr sz="1300">
                <a:solidFill>
                  <a:srgbClr val="1E293B"/>
                </a:solidFill>
                <a:latin typeface="Arial"/>
              </a:defRPr>
            </a:pPr>
            <a:r>
              <a:t>From your finger to the local brain and your web browser.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786384" y="2020824"/>
            <a:ext cx="3383280" cy="438912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965960"/>
            <a:ext cx="3383280" cy="4389120"/>
          </a:xfrm>
          <a:prstGeom prst="rect">
            <a:avLst/>
          </a:prstGeom>
          <a:solidFill>
            <a:srgbClr val="DCFCE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167128"/>
            <a:ext cx="2980944" cy="3986784"/>
          </a:xfrm>
          <a:prstGeom prst="rect">
            <a:avLst/>
          </a:prstGeom>
          <a:noFill/>
        </p:spPr>
        <p:txBody>
          <a:bodyPr wrap="square" tIns="50800" bIns="50800" lIns="50800" rIns="50800">
            <a:spAutoFit/>
          </a:bodyPr>
          <a:lstStyle/>
          <a:p>
            <a:pPr>
              <a:defRPr sz="1450" b="1">
                <a:solidFill>
                  <a:srgbClr val="111111"/>
                </a:solidFill>
                <a:latin typeface="Arial Black"/>
              </a:defRPr>
            </a:pPr>
            <a:r>
              <a:t>STEP 1: SENSOR POD (Wrist / Finger)</a:t>
            </a:r>
          </a:p>
          <a:p>
            <a:pPr>
              <a:spcBef>
                <a:spcPts val="600"/>
              </a:spcBef>
              <a:defRPr sz="1200" b="1">
                <a:solidFill>
                  <a:srgbClr val="1E293B"/>
                </a:solidFill>
                <a:latin typeface="Arial"/>
              </a:defRPr>
            </a:pPr>
            <a:r>
              <a:t>ESP32 Microcontroller Pod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MAX30102: Reads pulse and oxygen (SpO2).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MPU-6050: 3-axis motion sensor checks movement.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LM35: Measures direct skin temperature.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OLED Screen: Live pulse right on your wrist.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Streams over local Wi-Fi or direct USB cable.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443984" y="2020824"/>
            <a:ext cx="3383280" cy="438912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1965960"/>
            <a:ext cx="3383280" cy="4389120"/>
          </a:xfrm>
          <a:prstGeom prst="rect">
            <a:avLst/>
          </a:prstGeom>
          <a:solidFill>
            <a:srgbClr val="FEF3C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0288" y="2167128"/>
            <a:ext cx="2980944" cy="3986784"/>
          </a:xfrm>
          <a:prstGeom prst="rect">
            <a:avLst/>
          </a:prstGeom>
          <a:noFill/>
        </p:spPr>
        <p:txBody>
          <a:bodyPr wrap="square" tIns="50800" bIns="50800" lIns="50800" rIns="50800">
            <a:spAutoFit/>
          </a:bodyPr>
          <a:lstStyle/>
          <a:p>
            <a:pPr>
              <a:defRPr sz="1450" b="1">
                <a:solidFill>
                  <a:srgbClr val="111111"/>
                </a:solidFill>
                <a:latin typeface="Arial Black"/>
              </a:defRPr>
            </a:pPr>
            <a:r>
              <a:t>STEP 2: LOCAL BRAIN (Python FastAPI)</a:t>
            </a:r>
          </a:p>
          <a:p>
            <a:pPr>
              <a:spcBef>
                <a:spcPts val="600"/>
              </a:spcBef>
              <a:defRPr sz="1200" b="1">
                <a:solidFill>
                  <a:srgbClr val="1E293B"/>
                </a:solidFill>
                <a:latin typeface="Arial"/>
              </a:defRPr>
            </a:pPr>
            <a:r>
              <a:t>Fast Local Server on Port 8000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Ingests sensor data every second in real time.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Calculates your rolling personal normal (μ ± 2σ).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Runs Isolation Forest ML to detect real stress.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Stores all history in local SQLite (awen.db).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100% offline, zero internet connection needed.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01584" y="2020824"/>
            <a:ext cx="3383280" cy="438912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965960"/>
            <a:ext cx="3383280" cy="4389120"/>
          </a:xfrm>
          <a:prstGeom prst="rect">
            <a:avLst/>
          </a:prstGeom>
          <a:solidFill>
            <a:srgbClr val="E0F2FE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47888" y="2167128"/>
            <a:ext cx="2980944" cy="3986784"/>
          </a:xfrm>
          <a:prstGeom prst="rect">
            <a:avLst/>
          </a:prstGeom>
          <a:noFill/>
        </p:spPr>
        <p:txBody>
          <a:bodyPr wrap="square" tIns="50800" bIns="50800" lIns="50800" rIns="50800">
            <a:spAutoFit/>
          </a:bodyPr>
          <a:lstStyle/>
          <a:p>
            <a:pPr>
              <a:defRPr sz="1450" b="1">
                <a:solidFill>
                  <a:srgbClr val="111111"/>
                </a:solidFill>
                <a:latin typeface="Arial Black"/>
              </a:defRPr>
            </a:pPr>
            <a:r>
              <a:t>STEP 3: WEB APP (React 19 Dashboard)</a:t>
            </a:r>
          </a:p>
          <a:p>
            <a:pPr>
              <a:spcBef>
                <a:spcPts val="600"/>
              </a:spcBef>
              <a:defRPr sz="1200" b="1">
                <a:solidFill>
                  <a:srgbClr val="1E293B"/>
                </a:solidFill>
                <a:latin typeface="Arial"/>
              </a:defRPr>
            </a:pPr>
            <a:r>
              <a:t>Modern Interactive Interface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Live 60 FPS pulse waveform oscilloscope.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Living Mascot responds dynamically to vitals.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7-Day Journey displays your baseline corridor.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Empathetic check-ins and breathing guides.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Free of confusing medical jargon.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773936" cy="320040"/>
          </a:xfrm>
          <a:prstGeom prst="rect">
            <a:avLst/>
          </a:prstGeom>
          <a:solidFill>
            <a:srgbClr val="FFD027"/>
          </a:solidFill>
          <a:ln w="2540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 lIns="50800" rIns="50800"/>
          <a:lstStyle/>
          <a:p>
            <a:pPr algn="ctr">
              <a:defRPr sz="1050" b="1">
                <a:solidFill>
                  <a:srgbClr val="111111"/>
                </a:solidFill>
                <a:latin typeface="Arial"/>
              </a:defRPr>
            </a:pPr>
            <a:r>
              <a:t>HARDWARE POD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10728655" cy="11430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400" b="1">
                <a:solidFill>
                  <a:srgbClr val="111111"/>
                </a:solidFill>
                <a:latin typeface="Arial Black"/>
              </a:defRPr>
            </a:pPr>
            <a:r>
              <a:t>The Physical Sensors We Connected &amp; Programmed</a:t>
            </a:r>
          </a:p>
          <a:p>
            <a:pPr>
              <a:spcBef>
                <a:spcPts val="300"/>
              </a:spcBef>
              <a:defRPr sz="1300">
                <a:solidFill>
                  <a:srgbClr val="1E293B"/>
                </a:solidFill>
                <a:latin typeface="Arial"/>
              </a:defRPr>
            </a:pPr>
            <a:r>
              <a:t>Real biomedical and motion hardware communicating over high-speed I2C.</a:t>
            </a:r>
          </a:p>
        </p:txBody>
      </p:sp>
      <p:sp>
        <p:nvSpPr>
          <p:cNvPr id="5" name="Rectangle 4"/>
          <p:cNvSpPr/>
          <p:nvPr/>
        </p:nvSpPr>
        <p:spPr>
          <a:xfrm>
            <a:off x="786384" y="2020824"/>
            <a:ext cx="342900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965960"/>
            <a:ext cx="3429000" cy="2057400"/>
          </a:xfrm>
          <a:prstGeom prst="rect">
            <a:avLst/>
          </a:prstGeom>
          <a:solidFill>
            <a:srgbClr val="DCFCE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30552"/>
            <a:ext cx="3063240" cy="1691640"/>
          </a:xfrm>
          <a:prstGeom prst="rect">
            <a:avLst/>
          </a:prstGeom>
          <a:noFill/>
        </p:spPr>
        <p:txBody>
          <a:bodyPr wrap="square" tIns="25400" bIns="25400" lIns="25400" rIns="25400">
            <a:spAutoFit/>
          </a:bodyPr>
          <a:lstStyle/>
          <a:p>
            <a:pPr>
              <a:defRPr sz="1400" b="1">
                <a:solidFill>
                  <a:srgbClr val="111111"/>
                </a:solidFill>
                <a:latin typeface="Arial Black"/>
              </a:defRPr>
            </a:pPr>
            <a:r>
              <a:t>ESP32 Microcontroller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Dual-core 240MHz chip with built-in Wi-Fi and Bluetooth. Handles sensor reading and web streaming simultaneously.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98264" y="2020824"/>
            <a:ext cx="342900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43400" y="1965960"/>
            <a:ext cx="3429000" cy="2057400"/>
          </a:xfrm>
          <a:prstGeom prst="rect">
            <a:avLst/>
          </a:prstGeom>
          <a:solidFill>
            <a:srgbClr val="FEF3C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2130552"/>
            <a:ext cx="3063240" cy="1691640"/>
          </a:xfrm>
          <a:prstGeom prst="rect">
            <a:avLst/>
          </a:prstGeom>
          <a:noFill/>
        </p:spPr>
        <p:txBody>
          <a:bodyPr wrap="square" tIns="25400" bIns="25400" lIns="25400" rIns="25400">
            <a:spAutoFit/>
          </a:bodyPr>
          <a:lstStyle/>
          <a:p>
            <a:pPr>
              <a:defRPr sz="1400" b="1">
                <a:solidFill>
                  <a:srgbClr val="111111"/>
                </a:solidFill>
                <a:latin typeface="Arial Black"/>
              </a:defRPr>
            </a:pPr>
            <a:r>
              <a:t>MAX30102 Pulse &amp; SpO2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High-precision optical sensor. Uses red (660nm) and infrared (880nm) light to read pulse and SpO2 at I2C address 0x57.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10144" y="2020824"/>
            <a:ext cx="342900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55280" y="1965960"/>
            <a:ext cx="3429000" cy="2057400"/>
          </a:xfrm>
          <a:prstGeom prst="rect">
            <a:avLst/>
          </a:prstGeom>
          <a:solidFill>
            <a:srgbClr val="E0F2FE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2130552"/>
            <a:ext cx="3063240" cy="1691640"/>
          </a:xfrm>
          <a:prstGeom prst="rect">
            <a:avLst/>
          </a:prstGeom>
          <a:noFill/>
        </p:spPr>
        <p:txBody>
          <a:bodyPr wrap="square" tIns="25400" bIns="25400" lIns="25400" rIns="25400">
            <a:spAutoFit/>
          </a:bodyPr>
          <a:lstStyle/>
          <a:p>
            <a:pPr>
              <a:defRPr sz="1400" b="1">
                <a:solidFill>
                  <a:srgbClr val="111111"/>
                </a:solidFill>
                <a:latin typeface="Arial Black"/>
              </a:defRPr>
            </a:pPr>
            <a:r>
              <a:t>MPU-6050 Motion Sensor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3-axis accelerometer and gyro at I2C address 0x68. Computes total movement vector |a| to know when the user is moving.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6384" y="4261104"/>
            <a:ext cx="342900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4206240"/>
            <a:ext cx="3429000" cy="2057400"/>
          </a:xfrm>
          <a:prstGeom prst="rect">
            <a:avLst/>
          </a:prstGeom>
          <a:solidFill>
            <a:srgbClr val="FEE2E2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370832"/>
            <a:ext cx="3063240" cy="1691640"/>
          </a:xfrm>
          <a:prstGeom prst="rect">
            <a:avLst/>
          </a:prstGeom>
          <a:noFill/>
        </p:spPr>
        <p:txBody>
          <a:bodyPr wrap="square" tIns="25400" bIns="25400" lIns="25400" rIns="25400">
            <a:spAutoFit/>
          </a:bodyPr>
          <a:lstStyle/>
          <a:p>
            <a:pPr>
              <a:defRPr sz="1400" b="1">
                <a:solidFill>
                  <a:srgbClr val="111111"/>
                </a:solidFill>
                <a:latin typeface="Arial Black"/>
              </a:defRPr>
            </a:pPr>
            <a:r>
              <a:t>LM35 Temperature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Measures skin temperature directly in Celsius (+10 mV/°C) via ESP32 analog pin GPIO 34 with noise filtering.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98264" y="4261104"/>
            <a:ext cx="342900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43400" y="4206240"/>
            <a:ext cx="3429000" cy="2057400"/>
          </a:xfrm>
          <a:prstGeom prst="rect">
            <a:avLst/>
          </a:prstGeom>
          <a:solidFill>
            <a:srgbClr val="F3E8FF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6280" y="4370832"/>
            <a:ext cx="3063240" cy="1691640"/>
          </a:xfrm>
          <a:prstGeom prst="rect">
            <a:avLst/>
          </a:prstGeom>
          <a:noFill/>
        </p:spPr>
        <p:txBody>
          <a:bodyPr wrap="square" tIns="25400" bIns="25400" lIns="25400" rIns="25400">
            <a:spAutoFit/>
          </a:bodyPr>
          <a:lstStyle/>
          <a:p>
            <a:pPr>
              <a:defRPr sz="1400" b="1">
                <a:solidFill>
                  <a:srgbClr val="111111"/>
                </a:solidFill>
                <a:latin typeface="Arial Black"/>
              </a:defRPr>
            </a:pPr>
            <a:r>
              <a:t>SSD1306 OLED Screen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Mini 0.96-inch display on the pod showing live pulse, Wi-Fi IP, and motion status at I2C address 0x3C.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0144" y="4261104"/>
            <a:ext cx="342900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955280" y="4206240"/>
            <a:ext cx="3429000" cy="2057400"/>
          </a:xfrm>
          <a:prstGeom prst="rect">
            <a:avLst/>
          </a:prstGeom>
          <a:solidFill>
            <a:srgbClr val="FFFFFF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60" y="4370832"/>
            <a:ext cx="3063240" cy="1691640"/>
          </a:xfrm>
          <a:prstGeom prst="rect">
            <a:avLst/>
          </a:prstGeom>
          <a:noFill/>
        </p:spPr>
        <p:txBody>
          <a:bodyPr wrap="square" tIns="25400" bIns="25400" lIns="25400" rIns="25400">
            <a:spAutoFit/>
          </a:bodyPr>
          <a:lstStyle/>
          <a:p>
            <a:pPr>
              <a:defRPr sz="1400" b="1">
                <a:solidFill>
                  <a:srgbClr val="111111"/>
                </a:solidFill>
                <a:latin typeface="Arial Black"/>
              </a:defRPr>
            </a:pPr>
            <a:r>
              <a:t>Dual Wi-Fi + USB Link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Streams over local Wi-Fi (IP: 10.201.146.254:80) or direct USB cable with zero configuration required.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664207" cy="320040"/>
          </a:xfrm>
          <a:prstGeom prst="rect">
            <a:avLst/>
          </a:prstGeom>
          <a:solidFill>
            <a:srgbClr val="FFD027"/>
          </a:solidFill>
          <a:ln w="2540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 lIns="50800" rIns="50800"/>
          <a:lstStyle/>
          <a:p>
            <a:pPr algn="ctr">
              <a:defRPr sz="1050" b="1">
                <a:solidFill>
                  <a:srgbClr val="111111"/>
                </a:solidFill>
                <a:latin typeface="Arial"/>
              </a:defRPr>
            </a:pPr>
            <a:r>
              <a:t>SMART LOGIC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10728655" cy="11430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400" b="1">
                <a:solidFill>
                  <a:srgbClr val="111111"/>
                </a:solidFill>
                <a:latin typeface="Arial Black"/>
              </a:defRPr>
            </a:pPr>
            <a:r>
              <a:t>How We Stopped False Alarms &amp; Constant Beeping</a:t>
            </a:r>
          </a:p>
          <a:p>
            <a:pPr>
              <a:spcBef>
                <a:spcPts val="300"/>
              </a:spcBef>
              <a:defRPr sz="1300">
                <a:solidFill>
                  <a:srgbClr val="1E293B"/>
                </a:solidFill>
                <a:latin typeface="Arial"/>
              </a:defRPr>
            </a:pPr>
            <a:r>
              <a:t>Distinguishing healthy exercise from genuine emotional distress.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86384" y="2020824"/>
            <a:ext cx="5257800" cy="438912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965960"/>
            <a:ext cx="5257800" cy="4389120"/>
          </a:xfrm>
          <a:prstGeom prst="rect">
            <a:avLst/>
          </a:prstGeom>
          <a:solidFill>
            <a:srgbClr val="FEF3C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148840"/>
            <a:ext cx="4846320" cy="4023360"/>
          </a:xfrm>
          <a:prstGeom prst="rect">
            <a:avLst/>
          </a:prstGeom>
          <a:noFill/>
        </p:spPr>
        <p:txBody>
          <a:bodyPr wrap="square" tIns="25400" bIns="25400" lIns="25400" rIns="25400">
            <a:spAutoFit/>
          </a:bodyPr>
          <a:lstStyle/>
          <a:p>
            <a:pPr>
              <a:defRPr sz="1600" b="1">
                <a:solidFill>
                  <a:srgbClr val="111111"/>
                </a:solidFill>
                <a:latin typeface="Arial Black"/>
              </a:defRPr>
            </a:pPr>
            <a:r>
              <a:t>THE SENSOR FUSION DECISION</a:t>
            </a:r>
          </a:p>
          <a:p>
            <a:pPr>
              <a:spcBef>
                <a:spcPts val="800"/>
              </a:spcBef>
              <a:defRPr sz="1200" b="1">
                <a:solidFill>
                  <a:srgbClr val="111111"/>
                </a:solidFill>
                <a:latin typeface="Arial"/>
              </a:defRPr>
            </a:pPr>
            <a:r>
              <a:t>1. CASE A: Fast Pulse + MOVING (Walking / Stairs)</a:t>
            </a:r>
          </a:p>
          <a:p>
            <a:pPr>
              <a:spcBef>
                <a:spcPts val="2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→ Classification: Healthy Physical Exertion.</a:t>
            </a:r>
          </a:p>
          <a:p>
            <a:pPr>
              <a:spcBef>
                <a:spcPts val="2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→ Action: SILENCE! Do not disturb the user.</a:t>
            </a:r>
          </a:p>
          <a:p>
            <a:pPr>
              <a:spcBef>
                <a:spcPts val="2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→ Mascot: Turns Golden Amber (Active Mode).</a:t>
            </a:r>
          </a:p>
          <a:p>
            <a:pPr>
              <a:spcBef>
                <a:spcPts val="800"/>
              </a:spcBef>
              <a:defRPr sz="1200" b="1">
                <a:solidFill>
                  <a:srgbClr val="111111"/>
                </a:solidFill>
                <a:latin typeface="Arial"/>
              </a:defRPr>
            </a:pPr>
            <a:r>
              <a:t>2. CASE B: Fast Pulse + SITTING STILL (No Motion)</a:t>
            </a:r>
          </a:p>
          <a:p>
            <a:pPr>
              <a:spcBef>
                <a:spcPts val="2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→ Classification: Possible Emotional Stress or Panic.</a:t>
            </a:r>
          </a:p>
          <a:p>
            <a:pPr>
              <a:spcBef>
                <a:spcPts val="2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→ Action: Gentle check-in: 'Are you feeling okay?'</a:t>
            </a:r>
          </a:p>
          <a:p>
            <a:pPr>
              <a:spcBef>
                <a:spcPts val="2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→ Mascot: Turns Caring Amber + offers 4-7-8 breathing.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72784" y="2020824"/>
            <a:ext cx="5257800" cy="438912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0" y="1965960"/>
            <a:ext cx="5257800" cy="4389120"/>
          </a:xfrm>
          <a:prstGeom prst="rect">
            <a:avLst/>
          </a:prstGeom>
          <a:solidFill>
            <a:srgbClr val="DCFCE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9088" y="2148840"/>
            <a:ext cx="4846320" cy="4023360"/>
          </a:xfrm>
          <a:prstGeom prst="rect">
            <a:avLst/>
          </a:prstGeom>
          <a:noFill/>
        </p:spPr>
        <p:txBody>
          <a:bodyPr wrap="square" tIns="25400" bIns="25400" lIns="25400" rIns="25400">
            <a:spAutoFit/>
          </a:bodyPr>
          <a:lstStyle/>
          <a:p>
            <a:pPr>
              <a:defRPr sz="1600" b="1">
                <a:solidFill>
                  <a:srgbClr val="111111"/>
                </a:solidFill>
                <a:latin typeface="Arial Black"/>
              </a:defRPr>
            </a:pPr>
            <a:r>
              <a:t>ANTI-BEEPING PROTECTION</a:t>
            </a:r>
          </a:p>
          <a:p>
            <a:pPr>
              <a:spcBef>
                <a:spcPts val="800"/>
              </a:spcBef>
              <a:defRPr sz="1200" b="1">
                <a:solidFill>
                  <a:srgbClr val="111111"/>
                </a:solidFill>
                <a:latin typeface="Arial"/>
              </a:defRPr>
            </a:pPr>
            <a:r>
              <a:t>• Why Did Buzzers Usually Keep Beeping?</a:t>
            </a:r>
          </a:p>
          <a:p>
            <a:pPr>
              <a:spcBef>
                <a:spcPts val="2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When heart rate rises, it takes several minutes to settle down. A normal loop would beep every single second!</a:t>
            </a:r>
          </a:p>
          <a:p>
            <a:pPr>
              <a:spcBef>
                <a:spcPts val="800"/>
              </a:spcBef>
              <a:defRPr sz="1200" b="1">
                <a:solidFill>
                  <a:srgbClr val="111111"/>
                </a:solidFill>
                <a:latin typeface="Arial"/>
              </a:defRPr>
            </a:pPr>
            <a:r>
              <a:t>• How We Fixed It:</a:t>
            </a:r>
          </a:p>
          <a:p>
            <a:pPr>
              <a:spcBef>
                <a:spcPts val="2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1. Hardware Lockout: Firmware enforces 60s cooldown so buzzer cannot beep repeatedly.</a:t>
            </a:r>
          </a:p>
          <a:p>
            <a:pPr>
              <a:spcBef>
                <a:spcPts val="2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2. Frontend Audio Debounce: Web audio chime enforces a 3-minute cooldown.</a:t>
            </a:r>
          </a:p>
          <a:p>
            <a:pPr>
              <a:spcBef>
                <a:spcPts val="2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3. Non-Alarmist Phrasing: Never says 'You are sick', only offers supportive calm.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2980944" cy="320040"/>
          </a:xfrm>
          <a:prstGeom prst="rect">
            <a:avLst/>
          </a:prstGeom>
          <a:solidFill>
            <a:srgbClr val="FFD027"/>
          </a:solidFill>
          <a:ln w="2540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 lIns="50800" rIns="50800"/>
          <a:lstStyle/>
          <a:p>
            <a:pPr algn="ctr">
              <a:defRPr sz="1050" b="1">
                <a:solidFill>
                  <a:srgbClr val="111111"/>
                </a:solidFill>
                <a:latin typeface="Arial"/>
              </a:defRPr>
            </a:pPr>
            <a:r>
              <a:t>MATHEMATICAL 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10728655" cy="11430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400" b="1">
                <a:solidFill>
                  <a:srgbClr val="111111"/>
                </a:solidFill>
                <a:latin typeface="Arial Black"/>
              </a:defRPr>
            </a:pPr>
            <a:r>
              <a:t>The Math Behind Personal Normal (Made Simple)</a:t>
            </a:r>
          </a:p>
          <a:p>
            <a:pPr>
              <a:spcBef>
                <a:spcPts val="300"/>
              </a:spcBef>
              <a:defRPr sz="1300">
                <a:solidFill>
                  <a:srgbClr val="1E293B"/>
                </a:solidFill>
                <a:latin typeface="Arial"/>
              </a:defRPr>
            </a:pPr>
            <a:r>
              <a:t>Why personal statistics work better than arbitrary medical numbers.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86384" y="2020824"/>
            <a:ext cx="3383280" cy="438912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965960"/>
            <a:ext cx="3383280" cy="4389120"/>
          </a:xfrm>
          <a:prstGeom prst="rect">
            <a:avLst/>
          </a:prstGeom>
          <a:solidFill>
            <a:srgbClr val="DCFCE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167128"/>
            <a:ext cx="2980944" cy="3986784"/>
          </a:xfrm>
          <a:prstGeom prst="rect">
            <a:avLst/>
          </a:prstGeom>
          <a:noFill/>
        </p:spPr>
        <p:txBody>
          <a:bodyPr wrap="square" tIns="50800" bIns="50800" lIns="50800" rIns="50800">
            <a:spAutoFit/>
          </a:bodyPr>
          <a:lstStyle/>
          <a:p>
            <a:pPr>
              <a:defRPr sz="1600" b="1">
                <a:solidFill>
                  <a:srgbClr val="111111"/>
                </a:solidFill>
                <a:latin typeface="Arial Black"/>
              </a:defRPr>
            </a:pPr>
            <a:r>
              <a:t>1. Personal Average (μ)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  <a:latin typeface="Arial"/>
              </a:defRPr>
            </a:pPr>
            <a:r>
              <a:t>The mathematical center of YOUR quiet resting state.</a:t>
            </a:r>
          </a:p>
          <a:p>
            <a:pPr>
              <a:spcBef>
                <a:spcPts val="800"/>
              </a:spcBef>
              <a:defRPr sz="1250" b="1">
                <a:solidFill>
                  <a:srgbClr val="111111"/>
                </a:solidFill>
                <a:latin typeface="Arial"/>
              </a:defRPr>
            </a:pPr>
            <a:r>
              <a:t>Formula: μ = Average of your resting readings</a:t>
            </a:r>
          </a:p>
          <a:p>
            <a:pPr>
              <a:spcBef>
                <a:spcPts val="8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Continuously updates as your cardiovascular fitness improves or routines change.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443984" y="2020824"/>
            <a:ext cx="3383280" cy="438912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1965960"/>
            <a:ext cx="3383280" cy="4389120"/>
          </a:xfrm>
          <a:prstGeom prst="rect">
            <a:avLst/>
          </a:prstGeom>
          <a:solidFill>
            <a:srgbClr val="FEF3C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0288" y="2167128"/>
            <a:ext cx="2980944" cy="3986784"/>
          </a:xfrm>
          <a:prstGeom prst="rect">
            <a:avLst/>
          </a:prstGeom>
          <a:noFill/>
        </p:spPr>
        <p:txBody>
          <a:bodyPr wrap="square" tIns="50800" bIns="50800" lIns="50800" rIns="50800">
            <a:spAutoFit/>
          </a:bodyPr>
          <a:lstStyle/>
          <a:p>
            <a:pPr>
              <a:defRPr sz="1600" b="1">
                <a:solidFill>
                  <a:srgbClr val="111111"/>
                </a:solidFill>
                <a:latin typeface="Arial Black"/>
              </a:defRPr>
            </a:pPr>
            <a:r>
              <a:t>2. Personal Variance (σ)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  <a:latin typeface="Arial"/>
              </a:defRPr>
            </a:pPr>
            <a:r>
              <a:t>Measures how much your pulse naturally swings up and down during calm periods.</a:t>
            </a:r>
          </a:p>
          <a:p>
            <a:pPr>
              <a:spcBef>
                <a:spcPts val="800"/>
              </a:spcBef>
              <a:defRPr sz="1250" b="1">
                <a:solidFill>
                  <a:srgbClr val="111111"/>
                </a:solidFill>
                <a:latin typeface="Arial"/>
              </a:defRPr>
            </a:pPr>
            <a:r>
              <a:t>Individual Baseline Range: ±3 to ±7 BPM</a:t>
            </a:r>
          </a:p>
          <a:p>
            <a:pPr>
              <a:spcBef>
                <a:spcPts val="8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Some people naturally fluctuate by ±3 BPM; others naturally fluctuate by ±7 BPM. Captures individual autonomic nervous tone.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01584" y="2020824"/>
            <a:ext cx="3383280" cy="438912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965960"/>
            <a:ext cx="3383280" cy="4389120"/>
          </a:xfrm>
          <a:prstGeom prst="rect">
            <a:avLst/>
          </a:prstGeom>
          <a:solidFill>
            <a:srgbClr val="E0F2FE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47888" y="2167128"/>
            <a:ext cx="2980944" cy="3986784"/>
          </a:xfrm>
          <a:prstGeom prst="rect">
            <a:avLst/>
          </a:prstGeom>
          <a:noFill/>
        </p:spPr>
        <p:txBody>
          <a:bodyPr wrap="square" tIns="50800" bIns="50800" lIns="50800" rIns="50800">
            <a:spAutoFit/>
          </a:bodyPr>
          <a:lstStyle/>
          <a:p>
            <a:pPr>
              <a:defRPr sz="1600" b="1">
                <a:solidFill>
                  <a:srgbClr val="111111"/>
                </a:solidFill>
                <a:latin typeface="Arial Black"/>
              </a:defRPr>
            </a:pPr>
            <a:r>
              <a:t>3. Normal Comfort Zone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  <a:latin typeface="Arial"/>
              </a:defRPr>
            </a:pPr>
            <a:r>
              <a:t>Your personalized safe zone corridor:</a:t>
            </a:r>
          </a:p>
          <a:p>
            <a:pPr>
              <a:spcBef>
                <a:spcPts val="800"/>
              </a:spcBef>
              <a:defRPr sz="1250" b="1">
                <a:solidFill>
                  <a:srgbClr val="111111"/>
                </a:solidFill>
                <a:latin typeface="Arial"/>
              </a:defRPr>
            </a:pPr>
            <a:r>
              <a:t>Band: [ μ - 2σ , μ + 2σ ]</a:t>
            </a:r>
          </a:p>
          <a:p>
            <a:pPr>
              <a:spcBef>
                <a:spcPts val="8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In statistics, 95.45% of your normal resting readings fall inside this band. Only true anomalies lie outside!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2103120" cy="320040"/>
          </a:xfrm>
          <a:prstGeom prst="rect">
            <a:avLst/>
          </a:prstGeom>
          <a:solidFill>
            <a:srgbClr val="FFD027"/>
          </a:solidFill>
          <a:ln w="2540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 lIns="50800" rIns="50800"/>
          <a:lstStyle/>
          <a:p>
            <a:pPr algn="ctr">
              <a:defRPr sz="1050" b="1">
                <a:solidFill>
                  <a:srgbClr val="111111"/>
                </a:solidFill>
                <a:latin typeface="Arial"/>
              </a:defRPr>
            </a:pPr>
            <a:r>
              <a:t>SOFTWARE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10728655" cy="11430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400" b="1">
                <a:solidFill>
                  <a:srgbClr val="111111"/>
                </a:solidFill>
                <a:latin typeface="Arial Black"/>
              </a:defRPr>
            </a:pPr>
            <a:r>
              <a:t>FastAPI Local Microservice &amp; Isolation Forest AI</a:t>
            </a:r>
          </a:p>
          <a:p>
            <a:pPr>
              <a:spcBef>
                <a:spcPts val="300"/>
              </a:spcBef>
              <a:defRPr sz="1300">
                <a:solidFill>
                  <a:srgbClr val="1E293B"/>
                </a:solidFill>
                <a:latin typeface="Arial"/>
              </a:defRPr>
            </a:pPr>
            <a:r>
              <a:t>High-speed local processing with zero cloud lag and zero cloud dependencies.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86384" y="2020824"/>
            <a:ext cx="3383280" cy="438912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965960"/>
            <a:ext cx="3383280" cy="4389120"/>
          </a:xfrm>
          <a:prstGeom prst="rect">
            <a:avLst/>
          </a:prstGeom>
          <a:solidFill>
            <a:srgbClr val="DCFCE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167128"/>
            <a:ext cx="2980944" cy="3986784"/>
          </a:xfrm>
          <a:prstGeom prst="rect">
            <a:avLst/>
          </a:prstGeom>
          <a:noFill/>
        </p:spPr>
        <p:txBody>
          <a:bodyPr wrap="square" tIns="50800" bIns="50800" lIns="50800" rIns="50800">
            <a:spAutoFit/>
          </a:bodyPr>
          <a:lstStyle/>
          <a:p>
            <a:pPr>
              <a:defRPr sz="1600" b="1">
                <a:solidFill>
                  <a:srgbClr val="111111"/>
                </a:solidFill>
                <a:latin typeface="Arial Black"/>
              </a:defRPr>
            </a:pPr>
            <a:r>
              <a:t>FastAPI Microservice</a:t>
            </a:r>
          </a:p>
          <a:p>
            <a:pPr>
              <a:spcBef>
                <a:spcPts val="6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• High-speed local Python server on Port 8000.</a:t>
            </a:r>
          </a:p>
          <a:p>
            <a:pPr>
              <a:spcBef>
                <a:spcPts val="6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• Polls the ESP32 sensor pod automatically.</a:t>
            </a:r>
          </a:p>
          <a:p>
            <a:pPr>
              <a:spcBef>
                <a:spcPts val="6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• Ultra-low response latency under 5 milliseconds.</a:t>
            </a:r>
          </a:p>
          <a:p>
            <a:pPr>
              <a:spcBef>
                <a:spcPts val="6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• Interactive API docs available at /docs.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443984" y="2020824"/>
            <a:ext cx="3383280" cy="438912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1965960"/>
            <a:ext cx="3383280" cy="4389120"/>
          </a:xfrm>
          <a:prstGeom prst="rect">
            <a:avLst/>
          </a:prstGeom>
          <a:solidFill>
            <a:srgbClr val="FEF3C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0288" y="2167128"/>
            <a:ext cx="2980944" cy="3986784"/>
          </a:xfrm>
          <a:prstGeom prst="rect">
            <a:avLst/>
          </a:prstGeom>
          <a:noFill/>
        </p:spPr>
        <p:txBody>
          <a:bodyPr wrap="square" tIns="50800" bIns="50800" lIns="50800" rIns="50800">
            <a:spAutoFit/>
          </a:bodyPr>
          <a:lstStyle/>
          <a:p>
            <a:pPr>
              <a:defRPr sz="1600" b="1">
                <a:solidFill>
                  <a:srgbClr val="111111"/>
                </a:solidFill>
                <a:latin typeface="Arial Black"/>
              </a:defRPr>
            </a:pPr>
            <a:r>
              <a:t>Isolation Forest AI</a:t>
            </a:r>
          </a:p>
          <a:p>
            <a:pPr>
              <a:spcBef>
                <a:spcPts val="6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• Unsupervised Machine Learning via Scikit-Learn.</a:t>
            </a:r>
          </a:p>
          <a:p>
            <a:pPr>
              <a:spcBef>
                <a:spcPts val="6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• Learns your normal patterns without manual labeling.</a:t>
            </a:r>
          </a:p>
          <a:p>
            <a:pPr>
              <a:spcBef>
                <a:spcPts val="6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• Spots multi-dimensional anomalies (HR + SpO2 + Temp + Motion).</a:t>
            </a:r>
          </a:p>
          <a:p>
            <a:pPr>
              <a:spcBef>
                <a:spcPts val="6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• Calibrated dynamically during observation mode.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01584" y="2020824"/>
            <a:ext cx="3383280" cy="438912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965960"/>
            <a:ext cx="3383280" cy="4389120"/>
          </a:xfrm>
          <a:prstGeom prst="rect">
            <a:avLst/>
          </a:prstGeom>
          <a:solidFill>
            <a:srgbClr val="E0F2FE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47888" y="2167128"/>
            <a:ext cx="2980944" cy="3986784"/>
          </a:xfrm>
          <a:prstGeom prst="rect">
            <a:avLst/>
          </a:prstGeom>
          <a:noFill/>
        </p:spPr>
        <p:txBody>
          <a:bodyPr wrap="square" tIns="50800" bIns="50800" lIns="50800" rIns="50800">
            <a:spAutoFit/>
          </a:bodyPr>
          <a:lstStyle/>
          <a:p>
            <a:pPr>
              <a:defRPr sz="1600" b="1">
                <a:solidFill>
                  <a:srgbClr val="111111"/>
                </a:solidFill>
                <a:latin typeface="Arial Black"/>
              </a:defRPr>
            </a:pPr>
            <a:r>
              <a:t>Local SQLite Database</a:t>
            </a:r>
          </a:p>
          <a:p>
            <a:pPr>
              <a:spcBef>
                <a:spcPts val="6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• Embedded local database: backend/awen.db.</a:t>
            </a:r>
          </a:p>
          <a:p>
            <a:pPr>
              <a:spcBef>
                <a:spcPts val="6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• Write-Ahead Logging (WAL) enables high concurrency.</a:t>
            </a:r>
          </a:p>
          <a:p>
            <a:pPr>
              <a:spcBef>
                <a:spcPts val="6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• Complete patient privacy with PBKDF2 authentication.</a:t>
            </a:r>
          </a:p>
          <a:p>
            <a:pPr>
              <a:spcBef>
                <a:spcPts val="6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• 100% offline, zero cloud reliance.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2103120" cy="320040"/>
          </a:xfrm>
          <a:prstGeom prst="rect">
            <a:avLst/>
          </a:prstGeom>
          <a:solidFill>
            <a:srgbClr val="FFD027"/>
          </a:solidFill>
          <a:ln w="2540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 lIns="50800" rIns="50800"/>
          <a:lstStyle/>
          <a:p>
            <a:pPr algn="ctr">
              <a:defRPr sz="1050" b="1">
                <a:solidFill>
                  <a:srgbClr val="111111"/>
                </a:solidFill>
                <a:latin typeface="Arial"/>
              </a:defRPr>
            </a:pPr>
            <a:r>
              <a:t>FRONTEND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10728655" cy="11430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400" b="1">
                <a:solidFill>
                  <a:srgbClr val="111111"/>
                </a:solidFill>
                <a:latin typeface="Arial Black"/>
              </a:defRPr>
            </a:pPr>
            <a:r>
              <a:t>React 19, Tailwind &amp; High-Contrast Neo-Brutalism</a:t>
            </a:r>
          </a:p>
          <a:p>
            <a:pPr>
              <a:spcBef>
                <a:spcPts val="300"/>
              </a:spcBef>
              <a:defRPr sz="1300">
                <a:solidFill>
                  <a:srgbClr val="1E293B"/>
                </a:solidFill>
                <a:latin typeface="Arial"/>
              </a:defRPr>
            </a:pPr>
            <a:r>
              <a:t>Designed for maximum clarity, readability, and zero clutter.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786384" y="2020824"/>
            <a:ext cx="525780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965960"/>
            <a:ext cx="5257800" cy="2057400"/>
          </a:xfrm>
          <a:prstGeom prst="rect">
            <a:avLst/>
          </a:prstGeom>
          <a:solidFill>
            <a:srgbClr val="DCFCE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48840"/>
            <a:ext cx="4800600" cy="1691640"/>
          </a:xfrm>
          <a:prstGeom prst="rect">
            <a:avLst/>
          </a:prstGeom>
          <a:noFill/>
        </p:spPr>
        <p:txBody>
          <a:bodyPr wrap="square" tIns="25400" bIns="25400" lIns="25400" rIns="25400">
            <a:spAutoFit/>
          </a:bodyPr>
          <a:lstStyle/>
          <a:p>
            <a:pPr>
              <a:defRPr sz="1500" b="1">
                <a:solidFill>
                  <a:srgbClr val="111111"/>
                </a:solidFill>
                <a:latin typeface="Arial Black"/>
              </a:defRPr>
            </a:pPr>
            <a:r>
              <a:t>React 19 &amp; Vite 6</a:t>
            </a:r>
          </a:p>
          <a:p>
            <a:pPr>
              <a:spcBef>
                <a:spcPts val="5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Built with modern React hooks and lightning-fast Vite bundling. Instant state transitions and zero interface lag.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27064" y="2020824"/>
            <a:ext cx="525780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965960"/>
            <a:ext cx="5257800" cy="2057400"/>
          </a:xfrm>
          <a:prstGeom prst="rect">
            <a:avLst/>
          </a:prstGeom>
          <a:solidFill>
            <a:srgbClr val="FEF3C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148840"/>
            <a:ext cx="4800600" cy="1691640"/>
          </a:xfrm>
          <a:prstGeom prst="rect">
            <a:avLst/>
          </a:prstGeom>
          <a:noFill/>
        </p:spPr>
        <p:txBody>
          <a:bodyPr wrap="square" tIns="25400" bIns="25400" lIns="25400" rIns="25400">
            <a:spAutoFit/>
          </a:bodyPr>
          <a:lstStyle/>
          <a:p>
            <a:pPr>
              <a:defRPr sz="1500" b="1">
                <a:solidFill>
                  <a:srgbClr val="111111"/>
                </a:solidFill>
                <a:latin typeface="Arial Black"/>
              </a:defRPr>
            </a:pPr>
            <a:r>
              <a:t>Neo-Brutalist Visual Design</a:t>
            </a:r>
          </a:p>
          <a:p>
            <a:pPr>
              <a:spcBef>
                <a:spcPts val="5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Thick 2.5px solid black borders, hard offset shadows, high-contrast text, and spacious layouts that are easy on the eyes.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6384" y="4261104"/>
            <a:ext cx="525780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4206240"/>
            <a:ext cx="5257800" cy="2057400"/>
          </a:xfrm>
          <a:prstGeom prst="rect">
            <a:avLst/>
          </a:prstGeom>
          <a:solidFill>
            <a:srgbClr val="E0F2FE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389120"/>
            <a:ext cx="4800600" cy="1691640"/>
          </a:xfrm>
          <a:prstGeom prst="rect">
            <a:avLst/>
          </a:prstGeom>
          <a:noFill/>
        </p:spPr>
        <p:txBody>
          <a:bodyPr wrap="square" tIns="25400" bIns="25400" lIns="25400" rIns="25400">
            <a:spAutoFit/>
          </a:bodyPr>
          <a:lstStyle/>
          <a:p>
            <a:pPr>
              <a:defRPr sz="1500" b="1">
                <a:solidFill>
                  <a:srgbClr val="111111"/>
                </a:solidFill>
                <a:latin typeface="Arial Black"/>
              </a:defRPr>
            </a:pPr>
            <a:r>
              <a:t>Live 60 FPS Pulse Waveform</a:t>
            </a:r>
          </a:p>
          <a:p>
            <a:pPr>
              <a:spcBef>
                <a:spcPts val="5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Canvas oscilloscope draws your actual arterial pulse wave in real time as your blood flows.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27064" y="4261104"/>
            <a:ext cx="525780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4206240"/>
            <a:ext cx="5257800" cy="2057400"/>
          </a:xfrm>
          <a:prstGeom prst="rect">
            <a:avLst/>
          </a:prstGeom>
          <a:solidFill>
            <a:srgbClr val="F3E8FF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4389120"/>
            <a:ext cx="4800600" cy="1691640"/>
          </a:xfrm>
          <a:prstGeom prst="rect">
            <a:avLst/>
          </a:prstGeom>
          <a:noFill/>
        </p:spPr>
        <p:txBody>
          <a:bodyPr wrap="square" tIns="25400" bIns="25400" lIns="25400" rIns="25400">
            <a:spAutoFit/>
          </a:bodyPr>
          <a:lstStyle/>
          <a:p>
            <a:pPr>
              <a:defRPr sz="1500" b="1">
                <a:solidFill>
                  <a:srgbClr val="111111"/>
                </a:solidFill>
                <a:latin typeface="Arial Black"/>
              </a:defRPr>
            </a:pPr>
            <a:r>
              <a:t>Driverless Web Serial Connect</a:t>
            </a:r>
          </a:p>
          <a:p>
            <a:pPr>
              <a:spcBef>
                <a:spcPts val="5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Plug in the USB cable and click 'Connect' — communicates directly inside Chrome or Edge with zero driver installs.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883664" cy="320040"/>
          </a:xfrm>
          <a:prstGeom prst="rect">
            <a:avLst/>
          </a:prstGeom>
          <a:solidFill>
            <a:srgbClr val="FFD027"/>
          </a:solidFill>
          <a:ln w="2540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 lIns="50800" rIns="50800"/>
          <a:lstStyle/>
          <a:p>
            <a:pPr algn="ctr">
              <a:defRPr sz="1050" b="1">
                <a:solidFill>
                  <a:srgbClr val="111111"/>
                </a:solidFill>
                <a:latin typeface="Arial"/>
              </a:defRPr>
            </a:pPr>
            <a:r>
              <a:t>LIVING MASCOT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10728655" cy="11430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400" b="1">
                <a:solidFill>
                  <a:srgbClr val="111111"/>
                </a:solidFill>
                <a:latin typeface="Arial Black"/>
              </a:defRPr>
            </a:pPr>
            <a:r>
              <a:t>Meet Awen: 5 Simple Colors That Show How You Feel</a:t>
            </a:r>
          </a:p>
          <a:p>
            <a:pPr>
              <a:spcBef>
                <a:spcPts val="300"/>
              </a:spcBef>
              <a:defRPr sz="1300">
                <a:solidFill>
                  <a:srgbClr val="1E293B"/>
                </a:solidFill>
                <a:latin typeface="Arial"/>
              </a:defRPr>
            </a:pPr>
            <a:r>
              <a:t>A living vector mascot that changes color with your body.</a:t>
            </a:r>
          </a:p>
        </p:txBody>
      </p:sp>
      <p:sp>
        <p:nvSpPr>
          <p:cNvPr id="5" name="Rectangle 4"/>
          <p:cNvSpPr/>
          <p:nvPr/>
        </p:nvSpPr>
        <p:spPr>
          <a:xfrm>
            <a:off x="786384" y="2020824"/>
            <a:ext cx="2029968" cy="438912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965960"/>
            <a:ext cx="2029968" cy="4389120"/>
          </a:xfrm>
          <a:prstGeom prst="rect">
            <a:avLst/>
          </a:prstGeom>
          <a:solidFill>
            <a:srgbClr val="DCFCE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2130552"/>
            <a:ext cx="1773936" cy="4059936"/>
          </a:xfrm>
          <a:prstGeom prst="rect">
            <a:avLst/>
          </a:prstGeom>
          <a:noFill/>
        </p:spPr>
        <p:txBody>
          <a:bodyPr wrap="square" tIns="25400" bIns="25400" lIns="25400" rIns="25400">
            <a:spAutoFit/>
          </a:bodyPr>
          <a:lstStyle/>
          <a:p>
            <a:pPr>
              <a:defRPr sz="1350" b="1">
                <a:solidFill>
                  <a:srgbClr val="111111"/>
                </a:solidFill>
                <a:latin typeface="Arial Black"/>
              </a:defRPr>
            </a:pPr>
            <a:r>
              <a:t>BALANCED</a:t>
            </a:r>
          </a:p>
          <a:p>
            <a:pPr>
              <a:spcBef>
                <a:spcPts val="400"/>
              </a:spcBef>
              <a:defRPr sz="1100" b="1">
                <a:solidFill>
                  <a:srgbClr val="1E293B"/>
                </a:solidFill>
                <a:latin typeface="Arial"/>
              </a:defRPr>
            </a:pPr>
            <a:r>
              <a:t>Green (#32E875)</a:t>
            </a:r>
          </a:p>
          <a:p>
            <a:pPr>
              <a:spcBef>
                <a:spcPts val="600"/>
              </a:spcBef>
              <a:defRPr sz="1050">
                <a:solidFill>
                  <a:srgbClr val="1E293B"/>
                </a:solidFill>
                <a:latin typeface="Arial"/>
              </a:defRPr>
            </a:pPr>
            <a:r>
              <a:t>Resting heart rate inside your normal comfort zone. Gentle breathing animation.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2962655" y="2020824"/>
            <a:ext cx="2029968" cy="438912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907791" y="1965960"/>
            <a:ext cx="2029968" cy="4389120"/>
          </a:xfrm>
          <a:prstGeom prst="rect">
            <a:avLst/>
          </a:prstGeom>
          <a:solidFill>
            <a:srgbClr val="F3E8FF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35807" y="2130552"/>
            <a:ext cx="1773936" cy="4059936"/>
          </a:xfrm>
          <a:prstGeom prst="rect">
            <a:avLst/>
          </a:prstGeom>
          <a:noFill/>
        </p:spPr>
        <p:txBody>
          <a:bodyPr wrap="square" tIns="25400" bIns="25400" lIns="25400" rIns="25400">
            <a:spAutoFit/>
          </a:bodyPr>
          <a:lstStyle/>
          <a:p>
            <a:pPr>
              <a:defRPr sz="1350" b="1">
                <a:solidFill>
                  <a:srgbClr val="111111"/>
                </a:solidFill>
                <a:latin typeface="Arial Black"/>
              </a:defRPr>
            </a:pPr>
            <a:r>
              <a:t>LEARNING</a:t>
            </a:r>
          </a:p>
          <a:p>
            <a:pPr>
              <a:spcBef>
                <a:spcPts val="400"/>
              </a:spcBef>
              <a:defRPr sz="1100" b="1">
                <a:solidFill>
                  <a:srgbClr val="1E293B"/>
                </a:solidFill>
                <a:latin typeface="Arial"/>
              </a:defRPr>
            </a:pPr>
            <a:r>
              <a:t>Lavender (#C084FC)</a:t>
            </a:r>
          </a:p>
          <a:p>
            <a:pPr>
              <a:spcBef>
                <a:spcPts val="600"/>
              </a:spcBef>
              <a:defRPr sz="1050">
                <a:solidFill>
                  <a:srgbClr val="1E293B"/>
                </a:solidFill>
                <a:latin typeface="Arial"/>
              </a:defRPr>
            </a:pPr>
            <a:r>
              <a:t>Observation Mode active (Day 1-3). Learning your daily habits.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38928" y="2020824"/>
            <a:ext cx="2029968" cy="438912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84064" y="1965960"/>
            <a:ext cx="2029968" cy="4389120"/>
          </a:xfrm>
          <a:prstGeom prst="rect">
            <a:avLst/>
          </a:prstGeom>
          <a:solidFill>
            <a:srgbClr val="FEF3C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0" y="2130552"/>
            <a:ext cx="1773936" cy="4059936"/>
          </a:xfrm>
          <a:prstGeom prst="rect">
            <a:avLst/>
          </a:prstGeom>
          <a:noFill/>
        </p:spPr>
        <p:txBody>
          <a:bodyPr wrap="square" tIns="25400" bIns="25400" lIns="25400" rIns="25400">
            <a:spAutoFit/>
          </a:bodyPr>
          <a:lstStyle/>
          <a:p>
            <a:pPr>
              <a:defRPr sz="1350" b="1">
                <a:solidFill>
                  <a:srgbClr val="111111"/>
                </a:solidFill>
                <a:latin typeface="Arial Black"/>
              </a:defRPr>
            </a:pPr>
            <a:r>
              <a:t>ACTIVE</a:t>
            </a:r>
          </a:p>
          <a:p>
            <a:pPr>
              <a:spcBef>
                <a:spcPts val="400"/>
              </a:spcBef>
              <a:defRPr sz="1100" b="1">
                <a:solidFill>
                  <a:srgbClr val="1E293B"/>
                </a:solidFill>
                <a:latin typeface="Arial"/>
              </a:defRPr>
            </a:pPr>
            <a:r>
              <a:t>Yellow (#FFD027)</a:t>
            </a:r>
          </a:p>
          <a:p>
            <a:pPr>
              <a:spcBef>
                <a:spcPts val="600"/>
              </a:spcBef>
              <a:defRPr sz="1050">
                <a:solidFill>
                  <a:srgbClr val="1E293B"/>
                </a:solidFill>
                <a:latin typeface="Arial"/>
              </a:defRPr>
            </a:pPr>
            <a:r>
              <a:t>Movement detected. Awen celebrates healthy exercise and walking.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0" y="2020824"/>
            <a:ext cx="2029968" cy="438912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260336" y="1965960"/>
            <a:ext cx="2029968" cy="4389120"/>
          </a:xfrm>
          <a:prstGeom prst="rect">
            <a:avLst/>
          </a:prstGeom>
          <a:solidFill>
            <a:srgbClr val="FEE2E2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88352" y="2130552"/>
            <a:ext cx="1773936" cy="4059936"/>
          </a:xfrm>
          <a:prstGeom prst="rect">
            <a:avLst/>
          </a:prstGeom>
          <a:noFill/>
        </p:spPr>
        <p:txBody>
          <a:bodyPr wrap="square" tIns="25400" bIns="25400" lIns="25400" rIns="25400">
            <a:spAutoFit/>
          </a:bodyPr>
          <a:lstStyle/>
          <a:p>
            <a:pPr>
              <a:defRPr sz="1350" b="1">
                <a:solidFill>
                  <a:srgbClr val="111111"/>
                </a:solidFill>
                <a:latin typeface="Arial Black"/>
              </a:defRPr>
            </a:pPr>
            <a:r>
              <a:t>WATCHFUL</a:t>
            </a:r>
          </a:p>
          <a:p>
            <a:pPr>
              <a:spcBef>
                <a:spcPts val="400"/>
              </a:spcBef>
              <a:defRPr sz="1100" b="1">
                <a:solidFill>
                  <a:srgbClr val="1E293B"/>
                </a:solidFill>
                <a:latin typeface="Arial"/>
              </a:defRPr>
            </a:pPr>
            <a:r>
              <a:t>Amber (#F97316)</a:t>
            </a:r>
          </a:p>
          <a:p>
            <a:pPr>
              <a:spcBef>
                <a:spcPts val="600"/>
              </a:spcBef>
              <a:defRPr sz="1050">
                <a:solidFill>
                  <a:srgbClr val="1E293B"/>
                </a:solidFill>
                <a:latin typeface="Arial"/>
              </a:defRPr>
            </a:pPr>
            <a:r>
              <a:t>Resting pulse is high without motion. Awen offers a calm breathing check-in.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491472" y="2020824"/>
            <a:ext cx="2029968" cy="438912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436608" y="1965960"/>
            <a:ext cx="2029968" cy="4389120"/>
          </a:xfrm>
          <a:prstGeom prst="rect">
            <a:avLst/>
          </a:prstGeom>
          <a:solidFill>
            <a:srgbClr val="E0F2FE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64624" y="2130552"/>
            <a:ext cx="1773936" cy="4059936"/>
          </a:xfrm>
          <a:prstGeom prst="rect">
            <a:avLst/>
          </a:prstGeom>
          <a:noFill/>
        </p:spPr>
        <p:txBody>
          <a:bodyPr wrap="square" tIns="25400" bIns="25400" lIns="25400" rIns="25400">
            <a:spAutoFit/>
          </a:bodyPr>
          <a:lstStyle/>
          <a:p>
            <a:pPr>
              <a:defRPr sz="1350" b="1">
                <a:solidFill>
                  <a:srgbClr val="111111"/>
                </a:solidFill>
                <a:latin typeface="Arial Black"/>
              </a:defRPr>
            </a:pPr>
            <a:r>
              <a:t>WIND DOWN</a:t>
            </a:r>
          </a:p>
          <a:p>
            <a:pPr>
              <a:spcBef>
                <a:spcPts val="400"/>
              </a:spcBef>
              <a:defRPr sz="1100" b="1">
                <a:solidFill>
                  <a:srgbClr val="1E293B"/>
                </a:solidFill>
                <a:latin typeface="Arial"/>
              </a:defRPr>
            </a:pPr>
            <a:r>
              <a:t>Indigo (#818CF8)</a:t>
            </a:r>
          </a:p>
          <a:p>
            <a:pPr>
              <a:spcBef>
                <a:spcPts val="600"/>
              </a:spcBef>
              <a:defRPr sz="1050">
                <a:solidFill>
                  <a:srgbClr val="1E293B"/>
                </a:solidFill>
                <a:latin typeface="Arial"/>
              </a:defRPr>
            </a:pPr>
            <a:r>
              <a:t>Evening time (after 21:00). Awen gets sleepy to remind you to rest.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2103120" cy="320040"/>
          </a:xfrm>
          <a:prstGeom prst="rect">
            <a:avLst/>
          </a:prstGeom>
          <a:solidFill>
            <a:srgbClr val="FFD027"/>
          </a:solidFill>
          <a:ln w="2540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 lIns="50800" rIns="50800"/>
          <a:lstStyle/>
          <a:p>
            <a:pPr algn="ctr">
              <a:defRPr sz="1050" b="1">
                <a:solidFill>
                  <a:srgbClr val="111111"/>
                </a:solidFill>
                <a:latin typeface="Arial"/>
              </a:defRPr>
            </a:pPr>
            <a:r>
              <a:t>USER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10728655" cy="11430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400" b="1">
                <a:solidFill>
                  <a:srgbClr val="111111"/>
                </a:solidFill>
                <a:latin typeface="Arial Black"/>
              </a:defRPr>
            </a:pPr>
            <a:r>
              <a:t>The 7 Clean Screens in Our Application</a:t>
            </a:r>
          </a:p>
          <a:p>
            <a:pPr>
              <a:spcBef>
                <a:spcPts val="300"/>
              </a:spcBef>
              <a:defRPr sz="1300">
                <a:solidFill>
                  <a:srgbClr val="1E293B"/>
                </a:solidFill>
                <a:latin typeface="Arial"/>
              </a:defRPr>
            </a:pPr>
            <a:r>
              <a:t>Every screen is simple, focused, and free of medical jargon.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786384" y="2020824"/>
            <a:ext cx="342900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965960"/>
            <a:ext cx="3429000" cy="2057400"/>
          </a:xfrm>
          <a:prstGeom prst="rect">
            <a:avLst/>
          </a:prstGeom>
          <a:solidFill>
            <a:srgbClr val="DCFCE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30552"/>
            <a:ext cx="3063240" cy="1691640"/>
          </a:xfrm>
          <a:prstGeom prst="rect">
            <a:avLst/>
          </a:prstGeom>
          <a:noFill/>
        </p:spPr>
        <p:txBody>
          <a:bodyPr wrap="square" tIns="25400" bIns="25400" lIns="25400" rIns="25400">
            <a:spAutoFit/>
          </a:bodyPr>
          <a:lstStyle/>
          <a:p>
            <a:pPr>
              <a:defRPr sz="1400" b="1">
                <a:solidFill>
                  <a:srgbClr val="111111"/>
                </a:solidFill>
                <a:latin typeface="Arial Black"/>
              </a:defRPr>
            </a:pPr>
            <a:r>
              <a:t>1. Today Screen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Live vitals (Heart Rate, SpO2, Temp), mascot stage, 7-day corridor ribbon, and evening check-in.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98264" y="2020824"/>
            <a:ext cx="342900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43400" y="1965960"/>
            <a:ext cx="3429000" cy="2057400"/>
          </a:xfrm>
          <a:prstGeom prst="rect">
            <a:avLst/>
          </a:prstGeom>
          <a:solidFill>
            <a:srgbClr val="FEF3C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2130552"/>
            <a:ext cx="3063240" cy="1691640"/>
          </a:xfrm>
          <a:prstGeom prst="rect">
            <a:avLst/>
          </a:prstGeom>
          <a:noFill/>
        </p:spPr>
        <p:txBody>
          <a:bodyPr wrap="square" tIns="25400" bIns="25400" lIns="25400" rIns="25400">
            <a:spAutoFit/>
          </a:bodyPr>
          <a:lstStyle/>
          <a:p>
            <a:pPr>
              <a:defRPr sz="1400" b="1">
                <a:solidFill>
                  <a:srgbClr val="111111"/>
                </a:solidFill>
                <a:latin typeface="Arial Black"/>
              </a:defRPr>
            </a:pPr>
            <a:r>
              <a:t>2. Journey Screen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7-day trend chart showing your custom baseline band and how your body changes over time.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10144" y="2020824"/>
            <a:ext cx="342900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55280" y="1965960"/>
            <a:ext cx="3429000" cy="2057400"/>
          </a:xfrm>
          <a:prstGeom prst="rect">
            <a:avLst/>
          </a:prstGeom>
          <a:solidFill>
            <a:srgbClr val="E0F2FE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2130552"/>
            <a:ext cx="3063240" cy="1691640"/>
          </a:xfrm>
          <a:prstGeom prst="rect">
            <a:avLst/>
          </a:prstGeom>
          <a:noFill/>
        </p:spPr>
        <p:txBody>
          <a:bodyPr wrap="square" tIns="25400" bIns="25400" lIns="25400" rIns="25400">
            <a:spAutoFit/>
          </a:bodyPr>
          <a:lstStyle/>
          <a:p>
            <a:pPr>
              <a:defRPr sz="1400" b="1">
                <a:solidFill>
                  <a:srgbClr val="111111"/>
                </a:solidFill>
                <a:latin typeface="Arial Black"/>
              </a:defRPr>
            </a:pPr>
            <a:r>
              <a:t>3. Insights Screen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Simple graphs showing your quiet hours, active hours, and sleep consistency.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6384" y="4261104"/>
            <a:ext cx="342900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4206240"/>
            <a:ext cx="3429000" cy="2057400"/>
          </a:xfrm>
          <a:prstGeom prst="rect">
            <a:avLst/>
          </a:prstGeom>
          <a:solidFill>
            <a:srgbClr val="F3E8FF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370832"/>
            <a:ext cx="3063240" cy="1691640"/>
          </a:xfrm>
          <a:prstGeom prst="rect">
            <a:avLst/>
          </a:prstGeom>
          <a:noFill/>
        </p:spPr>
        <p:txBody>
          <a:bodyPr wrap="square" tIns="25400" bIns="25400" lIns="25400" rIns="25400">
            <a:spAutoFit/>
          </a:bodyPr>
          <a:lstStyle/>
          <a:p>
            <a:pPr>
              <a:defRPr sz="1400" b="1">
                <a:solidFill>
                  <a:srgbClr val="111111"/>
                </a:solidFill>
                <a:latin typeface="Arial Black"/>
              </a:defRPr>
            </a:pPr>
            <a:r>
              <a:t>4. Talk Screen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Empathetic AI companion you can chat with anytime for stress relief and reflections.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98264" y="4261104"/>
            <a:ext cx="342900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43400" y="4206240"/>
            <a:ext cx="3429000" cy="2057400"/>
          </a:xfrm>
          <a:prstGeom prst="rect">
            <a:avLst/>
          </a:prstGeom>
          <a:solidFill>
            <a:srgbClr val="FFFFFF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6280" y="4370832"/>
            <a:ext cx="3063240" cy="1691640"/>
          </a:xfrm>
          <a:prstGeom prst="rect">
            <a:avLst/>
          </a:prstGeom>
          <a:noFill/>
        </p:spPr>
        <p:txBody>
          <a:bodyPr wrap="square" tIns="25400" bIns="25400" lIns="25400" rIns="25400">
            <a:spAutoFit/>
          </a:bodyPr>
          <a:lstStyle/>
          <a:p>
            <a:pPr>
              <a:defRPr sz="1400" b="1">
                <a:solidFill>
                  <a:srgbClr val="111111"/>
                </a:solidFill>
                <a:latin typeface="Arial Black"/>
              </a:defRPr>
            </a:pPr>
            <a:r>
              <a:t>5. Hardware Hub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Live ESP32 telemetry inspector, Wi-Fi configuration (10.201.146.254), and USB serial monitor.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0144" y="4261104"/>
            <a:ext cx="342900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955280" y="4206240"/>
            <a:ext cx="3429000" cy="2057400"/>
          </a:xfrm>
          <a:prstGeom prst="rect">
            <a:avLst/>
          </a:prstGeom>
          <a:solidFill>
            <a:srgbClr val="FEE2E2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60" y="4370832"/>
            <a:ext cx="3063240" cy="1691640"/>
          </a:xfrm>
          <a:prstGeom prst="rect">
            <a:avLst/>
          </a:prstGeom>
          <a:noFill/>
        </p:spPr>
        <p:txBody>
          <a:bodyPr wrap="square" tIns="25400" bIns="25400" lIns="25400" rIns="25400">
            <a:spAutoFit/>
          </a:bodyPr>
          <a:lstStyle/>
          <a:p>
            <a:pPr>
              <a:defRPr sz="1400" b="1">
                <a:solidFill>
                  <a:srgbClr val="111111"/>
                </a:solidFill>
                <a:latin typeface="Arial Black"/>
              </a:defRPr>
            </a:pPr>
            <a:r>
              <a:t>6. Settings &amp; You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Toggle observation calibration, reset your baseline, and manage your private data.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883664" cy="320040"/>
          </a:xfrm>
          <a:prstGeom prst="rect">
            <a:avLst/>
          </a:prstGeom>
          <a:solidFill>
            <a:srgbClr val="FFD027"/>
          </a:solidFill>
          <a:ln w="2540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 lIns="50800" rIns="50800"/>
          <a:lstStyle/>
          <a:p>
            <a:pPr algn="ctr">
              <a:defRPr sz="1050" b="1">
                <a:solidFill>
                  <a:srgbClr val="111111"/>
                </a:solidFill>
                <a:latin typeface="Arial"/>
              </a:defRPr>
            </a:pPr>
            <a:r>
              <a:t>DATA 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10728655" cy="11430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400" b="1">
                <a:solidFill>
                  <a:srgbClr val="111111"/>
                </a:solidFill>
                <a:latin typeface="Arial Black"/>
              </a:defRPr>
            </a:pPr>
            <a:r>
              <a:t>100% Private: Your Data Never Leaves Your Computer</a:t>
            </a:r>
          </a:p>
          <a:p>
            <a:pPr>
              <a:spcBef>
                <a:spcPts val="300"/>
              </a:spcBef>
              <a:defRPr sz="1300">
                <a:solidFill>
                  <a:srgbClr val="1E293B"/>
                </a:solidFill>
                <a:latin typeface="Arial"/>
              </a:defRPr>
            </a:pPr>
            <a:r>
              <a:t>Biometric data belongs to the user, not commercial advertisers.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86384" y="2020824"/>
            <a:ext cx="3383280" cy="438912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965960"/>
            <a:ext cx="3383280" cy="4389120"/>
          </a:xfrm>
          <a:prstGeom prst="rect">
            <a:avLst/>
          </a:prstGeom>
          <a:solidFill>
            <a:srgbClr val="DCFCE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167128"/>
            <a:ext cx="2980944" cy="3986784"/>
          </a:xfrm>
          <a:prstGeom prst="rect">
            <a:avLst/>
          </a:prstGeom>
          <a:noFill/>
        </p:spPr>
        <p:txBody>
          <a:bodyPr wrap="square" tIns="50800" bIns="50800" lIns="50800" rIns="50800">
            <a:spAutoFit/>
          </a:bodyPr>
          <a:lstStyle/>
          <a:p>
            <a:pPr>
              <a:defRPr sz="1500" b="1">
                <a:solidFill>
                  <a:srgbClr val="111111"/>
                </a:solidFill>
                <a:latin typeface="Arial Black"/>
              </a:defRPr>
            </a:pPr>
            <a:r>
              <a:t>1. 100% Local SQLite Storage</a:t>
            </a:r>
          </a:p>
          <a:p>
            <a:pPr>
              <a:spcBef>
                <a:spcPts val="6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• All sensor feeds and check-ins stay on your own laptop.</a:t>
            </a:r>
          </a:p>
          <a:p>
            <a:pPr>
              <a:spcBef>
                <a:spcPts val="6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• Zero danger of cloud database hacks or leaks.</a:t>
            </a:r>
          </a:p>
          <a:p>
            <a:pPr>
              <a:spcBef>
                <a:spcPts val="6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• You can export or delete your database with one click.</a:t>
            </a:r>
          </a:p>
        </p:txBody>
      </p:sp>
      <p:sp>
        <p:nvSpPr>
          <p:cNvPr id="8" name="Rectangle 7"/>
          <p:cNvSpPr/>
          <p:nvPr/>
        </p:nvSpPr>
        <p:spPr>
          <a:xfrm>
            <a:off x="4443984" y="2020824"/>
            <a:ext cx="3383280" cy="438912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1965960"/>
            <a:ext cx="3383280" cy="4389120"/>
          </a:xfrm>
          <a:prstGeom prst="rect">
            <a:avLst/>
          </a:prstGeom>
          <a:solidFill>
            <a:srgbClr val="E0F2FE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0288" y="2167128"/>
            <a:ext cx="2980944" cy="3986784"/>
          </a:xfrm>
          <a:prstGeom prst="rect">
            <a:avLst/>
          </a:prstGeom>
          <a:noFill/>
        </p:spPr>
        <p:txBody>
          <a:bodyPr wrap="square" tIns="50800" bIns="50800" lIns="50800" rIns="50800">
            <a:spAutoFit/>
          </a:bodyPr>
          <a:lstStyle/>
          <a:p>
            <a:pPr>
              <a:defRPr sz="1500" b="1">
                <a:solidFill>
                  <a:srgbClr val="111111"/>
                </a:solidFill>
                <a:latin typeface="Arial Black"/>
              </a:defRPr>
            </a:pPr>
            <a:r>
              <a:t>2. Zero Cloud Leakage</a:t>
            </a:r>
          </a:p>
          <a:p>
            <a:pPr>
              <a:spcBef>
                <a:spcPts val="6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• No third-party health trackers or advertising beacons.</a:t>
            </a:r>
          </a:p>
          <a:p>
            <a:pPr>
              <a:spcBef>
                <a:spcPts val="6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• The ESP32 communicates purely across your local Wi-Fi or USB.</a:t>
            </a:r>
          </a:p>
          <a:p>
            <a:pPr>
              <a:spcBef>
                <a:spcPts val="6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• Zero internet connection required to operate.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01584" y="2020824"/>
            <a:ext cx="3383280" cy="438912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965960"/>
            <a:ext cx="3383280" cy="4389120"/>
          </a:xfrm>
          <a:prstGeom prst="rect">
            <a:avLst/>
          </a:prstGeom>
          <a:solidFill>
            <a:srgbClr val="FEF3C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47888" y="2167128"/>
            <a:ext cx="2980944" cy="3986784"/>
          </a:xfrm>
          <a:prstGeom prst="rect">
            <a:avLst/>
          </a:prstGeom>
          <a:noFill/>
        </p:spPr>
        <p:txBody>
          <a:bodyPr wrap="square" tIns="50800" bIns="50800" lIns="50800" rIns="50800">
            <a:spAutoFit/>
          </a:bodyPr>
          <a:lstStyle/>
          <a:p>
            <a:pPr>
              <a:defRPr sz="1500" b="1">
                <a:solidFill>
                  <a:srgbClr val="111111"/>
                </a:solidFill>
                <a:latin typeface="Arial Black"/>
              </a:defRPr>
            </a:pPr>
            <a:r>
              <a:t>3. Safe &amp; Ethical AI</a:t>
            </a:r>
          </a:p>
          <a:p>
            <a:pPr>
              <a:spcBef>
                <a:spcPts val="6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• AWEN strictly provides supportive wellness reflections, never unauthorized medical diagnoses.</a:t>
            </a:r>
          </a:p>
          <a:p>
            <a:pPr>
              <a:spcBef>
                <a:spcPts val="6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• Calm, reassuring tone prevents medical panic.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2980944" cy="320040"/>
          </a:xfrm>
          <a:prstGeom prst="rect">
            <a:avLst/>
          </a:prstGeom>
          <a:solidFill>
            <a:srgbClr val="FFD027"/>
          </a:solidFill>
          <a:ln w="2540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 lIns="50800" rIns="50800"/>
          <a:lstStyle/>
          <a:p>
            <a:pPr algn="ctr">
              <a:defRPr sz="1050" b="1">
                <a:solidFill>
                  <a:srgbClr val="111111"/>
                </a:solidFill>
                <a:latin typeface="Arial"/>
              </a:defRPr>
            </a:pPr>
            <a:r>
              <a:t>EXPERIMENTAL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10728655" cy="11430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400" b="1">
                <a:solidFill>
                  <a:srgbClr val="111111"/>
                </a:solidFill>
                <a:latin typeface="Arial Black"/>
              </a:defRPr>
            </a:pPr>
            <a:r>
              <a:t>Testing Results: Fast, Accurate &amp; Zero False Alarms</a:t>
            </a:r>
          </a:p>
          <a:p>
            <a:pPr>
              <a:spcBef>
                <a:spcPts val="300"/>
              </a:spcBef>
              <a:defRPr sz="1300">
                <a:solidFill>
                  <a:srgbClr val="1E293B"/>
                </a:solidFill>
                <a:latin typeface="Arial"/>
              </a:defRPr>
            </a:pPr>
            <a:r>
              <a:t>Proven through real hardware experiments and physical movement tests.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86384" y="2020824"/>
            <a:ext cx="525780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965960"/>
            <a:ext cx="5257800" cy="2057400"/>
          </a:xfrm>
          <a:prstGeom prst="rect">
            <a:avLst/>
          </a:prstGeom>
          <a:solidFill>
            <a:srgbClr val="DCFCE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30552"/>
            <a:ext cx="4800600" cy="1737360"/>
          </a:xfrm>
          <a:prstGeom prst="rect">
            <a:avLst/>
          </a:prstGeom>
          <a:noFill/>
        </p:spPr>
        <p:txBody>
          <a:bodyPr wrap="square" tIns="25400" bIns="25400" lIns="25400" rIns="25400">
            <a:spAutoFit/>
          </a:bodyPr>
          <a:lstStyle/>
          <a:p>
            <a:pPr>
              <a:defRPr sz="2800" b="1">
                <a:solidFill>
                  <a:srgbClr val="111111"/>
                </a:solidFill>
                <a:latin typeface="Arial Black"/>
              </a:defRPr>
            </a:pPr>
            <a:r>
              <a:t>&lt; 120 ms</a:t>
            </a:r>
          </a:p>
          <a:p>
            <a:pPr>
              <a:spcBef>
                <a:spcPts val="200"/>
              </a:spcBef>
              <a:defRPr sz="1350" b="1">
                <a:solidFill>
                  <a:srgbClr val="111111"/>
                </a:solidFill>
                <a:latin typeface="Arial Black"/>
              </a:defRPr>
            </a:pPr>
            <a:r>
              <a:t>Super Fast Latency</a:t>
            </a:r>
          </a:p>
          <a:p>
            <a:pPr>
              <a:spcBef>
                <a:spcPts val="3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From optical sensor sampling on your finger to live screen update over local Wi-Fi.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27064" y="2020824"/>
            <a:ext cx="525780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965960"/>
            <a:ext cx="5257800" cy="2057400"/>
          </a:xfrm>
          <a:prstGeom prst="rect">
            <a:avLst/>
          </a:prstGeom>
          <a:solidFill>
            <a:srgbClr val="FEF3C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130552"/>
            <a:ext cx="4800600" cy="1737360"/>
          </a:xfrm>
          <a:prstGeom prst="rect">
            <a:avLst/>
          </a:prstGeom>
          <a:noFill/>
        </p:spPr>
        <p:txBody>
          <a:bodyPr wrap="square" tIns="25400" bIns="25400" lIns="25400" rIns="25400">
            <a:spAutoFit/>
          </a:bodyPr>
          <a:lstStyle/>
          <a:p>
            <a:pPr>
              <a:defRPr sz="2800" b="1">
                <a:solidFill>
                  <a:srgbClr val="111111"/>
                </a:solidFill>
                <a:latin typeface="Arial Black"/>
              </a:defRPr>
            </a:pPr>
            <a:r>
              <a:t>0%</a:t>
            </a:r>
          </a:p>
          <a:p>
            <a:pPr>
              <a:spcBef>
                <a:spcPts val="200"/>
              </a:spcBef>
              <a:defRPr sz="1350" b="1">
                <a:solidFill>
                  <a:srgbClr val="111111"/>
                </a:solidFill>
                <a:latin typeface="Arial Black"/>
              </a:defRPr>
            </a:pPr>
            <a:r>
              <a:t>False Alarms During Exercise</a:t>
            </a:r>
          </a:p>
          <a:p>
            <a:pPr>
              <a:spcBef>
                <a:spcPts val="3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Accelerometer motion gate eliminated 100% of false alarms during stair climbing and walking.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6384" y="4261104"/>
            <a:ext cx="525780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4206240"/>
            <a:ext cx="5257800" cy="2057400"/>
          </a:xfrm>
          <a:prstGeom prst="rect">
            <a:avLst/>
          </a:prstGeom>
          <a:solidFill>
            <a:srgbClr val="E0F2FE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370832"/>
            <a:ext cx="4800600" cy="1737360"/>
          </a:xfrm>
          <a:prstGeom prst="rect">
            <a:avLst/>
          </a:prstGeom>
          <a:noFill/>
        </p:spPr>
        <p:txBody>
          <a:bodyPr wrap="square" tIns="25400" bIns="25400" lIns="25400" rIns="25400">
            <a:spAutoFit/>
          </a:bodyPr>
          <a:lstStyle/>
          <a:p>
            <a:pPr>
              <a:defRPr sz="2800" b="1">
                <a:solidFill>
                  <a:srgbClr val="111111"/>
                </a:solidFill>
                <a:latin typeface="Arial Black"/>
              </a:defRPr>
            </a:pPr>
            <a:r>
              <a:t>60 FPS</a:t>
            </a:r>
          </a:p>
          <a:p>
            <a:pPr>
              <a:spcBef>
                <a:spcPts val="200"/>
              </a:spcBef>
              <a:defRPr sz="1350" b="1">
                <a:solidFill>
                  <a:srgbClr val="111111"/>
                </a:solidFill>
                <a:latin typeface="Arial Black"/>
              </a:defRPr>
            </a:pPr>
            <a:r>
              <a:t>Smooth Vector Mascot</a:t>
            </a:r>
          </a:p>
          <a:p>
            <a:pPr>
              <a:spcBef>
                <a:spcPts val="3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GPU-accelerated vector SVG animations with less than 2% CPU usage.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27064" y="4261104"/>
            <a:ext cx="525780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4206240"/>
            <a:ext cx="5257800" cy="2057400"/>
          </a:xfrm>
          <a:prstGeom prst="rect">
            <a:avLst/>
          </a:prstGeom>
          <a:solidFill>
            <a:srgbClr val="F3E8FF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4370832"/>
            <a:ext cx="4800600" cy="1737360"/>
          </a:xfrm>
          <a:prstGeom prst="rect">
            <a:avLst/>
          </a:prstGeom>
          <a:noFill/>
        </p:spPr>
        <p:txBody>
          <a:bodyPr wrap="square" tIns="25400" bIns="25400" lIns="25400" rIns="25400">
            <a:spAutoFit/>
          </a:bodyPr>
          <a:lstStyle/>
          <a:p>
            <a:pPr>
              <a:defRPr sz="2800" b="1">
                <a:solidFill>
                  <a:srgbClr val="111111"/>
                </a:solidFill>
                <a:latin typeface="Arial Black"/>
              </a:defRPr>
            </a:pPr>
            <a:r>
              <a:t>99.8%</a:t>
            </a:r>
          </a:p>
          <a:p>
            <a:pPr>
              <a:spcBef>
                <a:spcPts val="200"/>
              </a:spcBef>
              <a:defRPr sz="1350" b="1">
                <a:solidFill>
                  <a:srgbClr val="111111"/>
                </a:solidFill>
                <a:latin typeface="Arial Black"/>
              </a:defRPr>
            </a:pPr>
            <a:r>
              <a:t>Stream Stability</a:t>
            </a:r>
          </a:p>
          <a:p>
            <a:pPr>
              <a:spcBef>
                <a:spcPts val="3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Dual-path fallback (Wi-Fi + USB Serial) guarantees zero data dropouts.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2542032" cy="320040"/>
          </a:xfrm>
          <a:prstGeom prst="rect">
            <a:avLst/>
          </a:prstGeom>
          <a:solidFill>
            <a:srgbClr val="FFD027"/>
          </a:solidFill>
          <a:ln w="2540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 lIns="50800" rIns="50800"/>
          <a:lstStyle/>
          <a:p>
            <a:pPr algn="ctr">
              <a:defRPr sz="1050" b="1">
                <a:solidFill>
                  <a:srgbClr val="111111"/>
                </a:solidFill>
                <a:latin typeface="Arial"/>
              </a:defRPr>
            </a:pPr>
            <a:r>
              <a:t>CONCLUSION &amp; FUTURE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10728655" cy="11430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400" b="1">
                <a:solidFill>
                  <a:srgbClr val="111111"/>
                </a:solidFill>
                <a:latin typeface="Arial Black"/>
              </a:defRPr>
            </a:pPr>
            <a:r>
              <a:t>Conclusion &amp; Next-Generation Roadmap</a:t>
            </a:r>
          </a:p>
          <a:p>
            <a:pPr>
              <a:spcBef>
                <a:spcPts val="300"/>
              </a:spcBef>
              <a:defRPr sz="1300">
                <a:solidFill>
                  <a:srgbClr val="1E293B"/>
                </a:solidFill>
                <a:latin typeface="Arial"/>
              </a:defRPr>
            </a:pPr>
            <a:r>
              <a:t>A verified capstone project setting a new standard for empathetic health technology.</a:t>
            </a:r>
          </a:p>
        </p:txBody>
      </p:sp>
      <p:sp>
        <p:nvSpPr>
          <p:cNvPr id="5" name="Rectangle 4"/>
          <p:cNvSpPr/>
          <p:nvPr/>
        </p:nvSpPr>
        <p:spPr>
          <a:xfrm>
            <a:off x="786384" y="2020824"/>
            <a:ext cx="5257800" cy="438912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965960"/>
            <a:ext cx="5257800" cy="4389120"/>
          </a:xfrm>
          <a:prstGeom prst="rect">
            <a:avLst/>
          </a:prstGeom>
          <a:solidFill>
            <a:srgbClr val="DCFCE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67128"/>
            <a:ext cx="4800600" cy="3986784"/>
          </a:xfrm>
          <a:prstGeom prst="rect">
            <a:avLst/>
          </a:prstGeom>
          <a:noFill/>
        </p:spPr>
        <p:txBody>
          <a:bodyPr wrap="square" tIns="50800" bIns="50800" lIns="50800" rIns="50800">
            <a:spAutoFit/>
          </a:bodyPr>
          <a:lstStyle/>
          <a:p>
            <a:pPr>
              <a:defRPr sz="1500" b="1">
                <a:solidFill>
                  <a:srgbClr val="111111"/>
                </a:solidFill>
                <a:latin typeface="Arial Black"/>
              </a:defRPr>
            </a:pPr>
            <a:r>
              <a:t>What Has Been Delivered &amp; Verified</a:t>
            </a:r>
          </a:p>
          <a:p>
            <a:pPr>
              <a:spcBef>
                <a:spcPts val="500"/>
              </a:spcBef>
              <a:defRPr sz="1120">
                <a:solidFill>
                  <a:srgbClr val="1E293B"/>
                </a:solidFill>
                <a:latin typeface="Arial"/>
              </a:defRPr>
            </a:pPr>
            <a:r>
              <a:t>✔ Working ESP32 Sensor Pod with MAX30102, MPU-6050, LM35 &amp; OLED.</a:t>
            </a:r>
          </a:p>
          <a:p>
            <a:pPr>
              <a:spcBef>
                <a:spcPts val="500"/>
              </a:spcBef>
              <a:defRPr sz="1120">
                <a:solidFill>
                  <a:srgbClr val="1E293B"/>
                </a:solidFill>
                <a:latin typeface="Arial"/>
              </a:defRPr>
            </a:pPr>
            <a:r>
              <a:t>✔ Dual-Path Streaming: Local Wi-Fi (10.201.146.254) + Web Serial USB.</a:t>
            </a:r>
          </a:p>
          <a:p>
            <a:pPr>
              <a:spcBef>
                <a:spcPts val="500"/>
              </a:spcBef>
              <a:defRPr sz="1120">
                <a:solidFill>
                  <a:srgbClr val="1E293B"/>
                </a:solidFill>
                <a:latin typeface="Arial"/>
              </a:defRPr>
            </a:pPr>
            <a:r>
              <a:t>✔ Motion-aware Exertion Filter &amp; 60s buzzer cooldown.</a:t>
            </a:r>
          </a:p>
          <a:p>
            <a:pPr>
              <a:spcBef>
                <a:spcPts val="500"/>
              </a:spcBef>
              <a:defRPr sz="1120">
                <a:solidFill>
                  <a:srgbClr val="1E293B"/>
                </a:solidFill>
                <a:latin typeface="Arial"/>
              </a:defRPr>
            </a:pPr>
            <a:r>
              <a:t>✔ Dynamic Personal Baseline Corridor (μ ± 2σ) statistical calculation.</a:t>
            </a:r>
          </a:p>
          <a:p>
            <a:pPr>
              <a:spcBef>
                <a:spcPts val="500"/>
              </a:spcBef>
              <a:defRPr sz="1120">
                <a:solidFill>
                  <a:srgbClr val="1E293B"/>
                </a:solidFill>
                <a:latin typeface="Arial"/>
              </a:defRPr>
            </a:pPr>
            <a:r>
              <a:t>✔ React 19 Frontend with 5-State Living Mascot &amp; 7-Screen Ecosystem.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27064" y="2020824"/>
            <a:ext cx="5257800" cy="438912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965960"/>
            <a:ext cx="5257800" cy="4389120"/>
          </a:xfrm>
          <a:prstGeom prst="rect">
            <a:avLst/>
          </a:prstGeom>
          <a:solidFill>
            <a:srgbClr val="E0F2FE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167128"/>
            <a:ext cx="4800600" cy="3986784"/>
          </a:xfrm>
          <a:prstGeom prst="rect">
            <a:avLst/>
          </a:prstGeom>
          <a:noFill/>
        </p:spPr>
        <p:txBody>
          <a:bodyPr wrap="square" tIns="50800" bIns="50800" lIns="50800" rIns="50800">
            <a:spAutoFit/>
          </a:bodyPr>
          <a:lstStyle/>
          <a:p>
            <a:pPr>
              <a:defRPr sz="1500" b="1">
                <a:solidFill>
                  <a:srgbClr val="111111"/>
                </a:solidFill>
                <a:latin typeface="Arial Black"/>
              </a:defRPr>
            </a:pPr>
            <a:r>
              <a:t>Future Commercial &amp; Research Roadmap</a:t>
            </a:r>
          </a:p>
          <a:p>
            <a:pPr>
              <a:spcBef>
                <a:spcPts val="500"/>
              </a:spcBef>
              <a:defRPr sz="1120">
                <a:solidFill>
                  <a:srgbClr val="1E293B"/>
                </a:solidFill>
                <a:latin typeface="Arial"/>
              </a:defRPr>
            </a:pPr>
            <a:r>
              <a:t>• Smart Ring Form Factor: Miniaturized multi-layer flex PCB.</a:t>
            </a:r>
          </a:p>
          <a:p>
            <a:pPr>
              <a:spcBef>
                <a:spcPts val="500"/>
              </a:spcBef>
              <a:defRPr sz="1120">
                <a:solidFill>
                  <a:srgbClr val="1E293B"/>
                </a:solidFill>
                <a:latin typeface="Arial"/>
              </a:defRPr>
            </a:pPr>
            <a:r>
              <a:t>• Bluetooth Low Energy (BLE 5.0): Low-power wireless sync.</a:t>
            </a:r>
          </a:p>
          <a:p>
            <a:pPr>
              <a:spcBef>
                <a:spcPts val="500"/>
              </a:spcBef>
              <a:defRPr sz="1120">
                <a:solidFill>
                  <a:srgbClr val="1E293B"/>
                </a:solidFill>
                <a:latin typeface="Arial"/>
              </a:defRPr>
            </a:pPr>
            <a:r>
              <a:t>• TinyML On-Device Models: Running TensorFlow Lite micro-models on chip.</a:t>
            </a:r>
          </a:p>
          <a:p>
            <a:pPr>
              <a:spcBef>
                <a:spcPts val="500"/>
              </a:spcBef>
              <a:defRPr sz="1120">
                <a:solidFill>
                  <a:srgbClr val="1E293B"/>
                </a:solidFill>
                <a:latin typeface="Arial"/>
              </a:defRPr>
            </a:pPr>
            <a:r>
              <a:t>• Sleep Stage Tracking: Measuring autonomic recovery and RMSSD HRV overnight.</a:t>
            </a:r>
          </a:p>
          <a:p>
            <a:pPr>
              <a:spcBef>
                <a:spcPts val="500"/>
              </a:spcBef>
              <a:defRPr sz="1120">
                <a:solidFill>
                  <a:srgbClr val="1E293B"/>
                </a:solidFill>
                <a:latin typeface="Arial"/>
              </a:defRPr>
            </a:pPr>
            <a:r>
              <a:t>• University Campus Pilot: Helping students manage exam stress.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